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sldIdLst>
    <p:sldId id="256" r:id="rId5"/>
    <p:sldId id="257" r:id="rId6"/>
    <p:sldId id="258" r:id="rId7"/>
    <p:sldId id="259" r:id="rId8"/>
    <p:sldId id="260" r:id="rId9"/>
    <p:sldId id="261" r:id="rId10"/>
    <p:sldId id="264" r:id="rId11"/>
    <p:sldId id="262" r:id="rId12"/>
    <p:sldId id="263"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3A7EFC-48C2-CCB3-8BB2-7919E94988F0}" v="899" dt="2026-05-22T00:55:30.182"/>
    <p1510:client id="{72274648-64CA-2EE2-494E-3DF7742C4215}" v="511" dt="2026-05-21T18:00:17.033"/>
    <p1510:client id="{C403EB52-8546-8C16-F101-53F8E224F1E4}" v="177" dt="2026-05-22T00:56:00.834"/>
    <p1510:client id="{E2BD2B18-C988-F8D6-75E4-5C380F496B45}" v="264" dt="2026-05-20T15:45:53.1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714"/>
    <p:restoredTop sz="94610"/>
  </p:normalViewPr>
  <p:slideViewPr>
    <p:cSldViewPr snapToGrid="0" snapToObjects="1">
      <p:cViewPr varScale="1">
        <p:scale>
          <a:sx n="76" d="100"/>
          <a:sy n="76" d="100"/>
        </p:scale>
        <p:origin x="192" y="2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0806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19033-8A12-3A3B-096F-25098C9D48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9C1FDC-1C90-45DE-3985-B84F1E9F4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2A799C-D21C-C8BA-17B3-75D61C1A2B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48B900-61B0-2D84-ED38-B55770AB261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622509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B4D8"/>
          </a:solidFill>
          <a:ln/>
        </p:spPr>
        <p:txBody>
          <a:bodyPr/>
          <a:lstStyle/>
          <a:p>
            <a:endParaRPr lang="en-US"/>
          </a:p>
        </p:txBody>
      </p:sp>
      <p:sp>
        <p:nvSpPr>
          <p:cNvPr id="3" name="Shape 1"/>
          <p:cNvSpPr/>
          <p:nvPr/>
        </p:nvSpPr>
        <p:spPr>
          <a:xfrm>
            <a:off x="6858000" y="228600"/>
            <a:ext cx="2011680" cy="320040"/>
          </a:xfrm>
          <a:prstGeom prst="rect">
            <a:avLst/>
          </a:prstGeom>
          <a:solidFill>
            <a:srgbClr val="00B4D8"/>
          </a:solidFill>
          <a:ln/>
        </p:spPr>
        <p:txBody>
          <a:bodyPr/>
          <a:lstStyle/>
          <a:p>
            <a:endParaRPr lang="en-US"/>
          </a:p>
        </p:txBody>
      </p:sp>
      <p:sp>
        <p:nvSpPr>
          <p:cNvPr id="4" name="Text 2"/>
          <p:cNvSpPr/>
          <p:nvPr/>
        </p:nvSpPr>
        <p:spPr>
          <a:xfrm>
            <a:off x="6858000" y="228600"/>
            <a:ext cx="2011680" cy="320040"/>
          </a:xfrm>
          <a:prstGeom prst="rect">
            <a:avLst/>
          </a:prstGeom>
          <a:noFill/>
          <a:ln/>
        </p:spPr>
        <p:txBody>
          <a:bodyPr wrap="square" lIns="0" tIns="0" rIns="0" bIns="0" rtlCol="0" anchor="ctr"/>
          <a:lstStyle/>
          <a:p>
            <a:pPr algn="ctr"/>
            <a:r>
              <a:rPr lang="en-US" sz="1100" b="1">
                <a:solidFill>
                  <a:srgbClr val="065A82"/>
                </a:solidFill>
                <a:ea typeface="Calibri"/>
                <a:cs typeface="Calibri"/>
              </a:rPr>
              <a:t>James Mitchell</a:t>
            </a:r>
            <a:endParaRPr lang="en-US" sz="1100" b="1" dirty="0">
              <a:solidFill>
                <a:srgbClr val="065A82"/>
              </a:solidFill>
              <a:ea typeface="Calibri"/>
              <a:cs typeface="Calibri"/>
            </a:endParaRPr>
          </a:p>
        </p:txBody>
      </p:sp>
      <p:sp>
        <p:nvSpPr>
          <p:cNvPr id="5" name="Text 3"/>
          <p:cNvSpPr/>
          <p:nvPr/>
        </p:nvSpPr>
        <p:spPr>
          <a:xfrm>
            <a:off x="365760" y="457200"/>
            <a:ext cx="6400800" cy="457200"/>
          </a:xfrm>
          <a:prstGeom prst="rect">
            <a:avLst/>
          </a:prstGeom>
          <a:noFill/>
          <a:ln/>
        </p:spPr>
        <p:txBody>
          <a:bodyPr wrap="square" lIns="91440" tIns="45720" rIns="91440" bIns="45720" rtlCol="0" anchor="ctr"/>
          <a:lstStyle/>
          <a:p>
            <a:r>
              <a:rPr lang="en-US" sz="1600" b="1" dirty="0">
                <a:solidFill>
                  <a:srgbClr val="00B4D8"/>
                </a:solidFill>
                <a:ea typeface="Calibri"/>
                <a:cs typeface="Calibri"/>
              </a:rPr>
              <a:t>Late </a:t>
            </a:r>
            <a:r>
              <a:rPr lang="en-US" sz="1600" b="1">
                <a:solidFill>
                  <a:srgbClr val="00B4D8"/>
                </a:solidFill>
                <a:ea typeface="Calibri"/>
                <a:cs typeface="Calibri"/>
              </a:rPr>
              <a:t>People</a:t>
            </a:r>
            <a:endParaRPr lang="en-US" sz="1600" b="1" dirty="0">
              <a:solidFill>
                <a:srgbClr val="00B4D8"/>
              </a:solidFill>
              <a:ea typeface="Calibri"/>
              <a:cs typeface="Calibri"/>
            </a:endParaRPr>
          </a:p>
        </p:txBody>
      </p:sp>
      <p:sp>
        <p:nvSpPr>
          <p:cNvPr id="6" name="Text 4"/>
          <p:cNvSpPr/>
          <p:nvPr/>
        </p:nvSpPr>
        <p:spPr>
          <a:xfrm>
            <a:off x="365760" y="1005840"/>
            <a:ext cx="7315200" cy="1828800"/>
          </a:xfrm>
          <a:prstGeom prst="rect">
            <a:avLst/>
          </a:prstGeom>
          <a:noFill/>
          <a:ln/>
        </p:spPr>
        <p:txBody>
          <a:bodyPr wrap="square" rtlCol="0" anchor="ctr"/>
          <a:lstStyle/>
          <a:p>
            <a:pPr marL="0" indent="0">
              <a:buNone/>
            </a:pPr>
            <a:r>
              <a:rPr lang="en-US" sz="4400" b="1" dirty="0">
                <a:solidFill>
                  <a:srgbClr val="FFFFFF"/>
                </a:solidFill>
              </a:rPr>
              <a:t>Quick Start Smart City AI</a:t>
            </a:r>
            <a:endParaRPr lang="en-US" sz="4400" dirty="0"/>
          </a:p>
          <a:p>
            <a:pPr marL="0" indent="0">
              <a:buNone/>
            </a:pPr>
            <a:r>
              <a:rPr lang="en-US" sz="4400" b="1" dirty="0">
                <a:solidFill>
                  <a:srgbClr val="FFFFFF"/>
                </a:solidFill>
              </a:rPr>
              <a:t>Design Proposal</a:t>
            </a:r>
            <a:endParaRPr lang="en-US" sz="4400" dirty="0"/>
          </a:p>
        </p:txBody>
      </p:sp>
      <p:sp>
        <p:nvSpPr>
          <p:cNvPr id="7" name="Text 5"/>
          <p:cNvSpPr/>
          <p:nvPr/>
        </p:nvSpPr>
        <p:spPr>
          <a:xfrm>
            <a:off x="365760" y="2880360"/>
            <a:ext cx="6858000" cy="548640"/>
          </a:xfrm>
          <a:prstGeom prst="rect">
            <a:avLst/>
          </a:prstGeom>
          <a:noFill/>
          <a:ln/>
        </p:spPr>
        <p:txBody>
          <a:bodyPr wrap="square" rtlCol="0" anchor="ctr"/>
          <a:lstStyle/>
          <a:p>
            <a:pPr marL="0" indent="0">
              <a:buNone/>
            </a:pPr>
            <a:r>
              <a:rPr lang="en-US" sz="1600" i="1" dirty="0">
                <a:solidFill>
                  <a:srgbClr val="00B4D8"/>
                </a:solidFill>
              </a:rPr>
              <a:t>AI-Powered Power Distribution for a Resilient City</a:t>
            </a:r>
            <a:endParaRPr lang="en-US" sz="1600" dirty="0"/>
          </a:p>
        </p:txBody>
      </p:sp>
      <p:sp>
        <p:nvSpPr>
          <p:cNvPr id="8" name="Shape 6"/>
          <p:cNvSpPr/>
          <p:nvPr/>
        </p:nvSpPr>
        <p:spPr>
          <a:xfrm>
            <a:off x="365760" y="3520440"/>
            <a:ext cx="8229600" cy="914400"/>
          </a:xfrm>
          <a:prstGeom prst="rect">
            <a:avLst/>
          </a:prstGeom>
          <a:solidFill>
            <a:srgbClr val="1C7293"/>
          </a:solidFill>
          <a:ln/>
        </p:spPr>
        <p:txBody>
          <a:bodyPr/>
          <a:lstStyle/>
          <a:p>
            <a:endParaRPr lang="en-US"/>
          </a:p>
        </p:txBody>
      </p:sp>
      <p:sp>
        <p:nvSpPr>
          <p:cNvPr id="9" name="Text 7"/>
          <p:cNvSpPr/>
          <p:nvPr/>
        </p:nvSpPr>
        <p:spPr>
          <a:xfrm>
            <a:off x="502920" y="3611880"/>
            <a:ext cx="7955280" cy="365760"/>
          </a:xfrm>
          <a:prstGeom prst="rect">
            <a:avLst/>
          </a:prstGeom>
          <a:noFill/>
          <a:ln/>
        </p:spPr>
        <p:txBody>
          <a:bodyPr wrap="square" lIns="91440" tIns="45720" rIns="91440" bIns="45720" rtlCol="0" anchor="ctr"/>
          <a:lstStyle/>
          <a:p>
            <a:r>
              <a:rPr lang="en-US" sz="1300" b="1" dirty="0">
                <a:solidFill>
                  <a:srgbClr val="00B4D8"/>
                </a:solidFill>
              </a:rPr>
              <a:t>Team Members: </a:t>
            </a:r>
            <a:r>
              <a:rPr lang="en-US" sz="1300" dirty="0">
                <a:solidFill>
                  <a:srgbClr val="FFFFFF"/>
                </a:solidFill>
              </a:rPr>
              <a:t>Tag Tribble · </a:t>
            </a:r>
            <a:r>
              <a:rPr lang="en-US" sz="1300">
                <a:solidFill>
                  <a:srgbClr val="FFFFFF"/>
                </a:solidFill>
              </a:rPr>
              <a:t>Milana</a:t>
            </a:r>
            <a:r>
              <a:rPr lang="en-US" sz="1300" dirty="0">
                <a:solidFill>
                  <a:srgbClr val="FFFFFF"/>
                </a:solidFill>
              </a:rPr>
              <a:t> </a:t>
            </a:r>
            <a:r>
              <a:rPr lang="en-US" sz="1300" dirty="0" err="1">
                <a:solidFill>
                  <a:srgbClr val="FFFFFF"/>
                </a:solidFill>
              </a:rPr>
              <a:t>Datilma</a:t>
            </a:r>
            <a:endParaRPr lang="en-US" sz="1300" dirty="0" err="1"/>
          </a:p>
        </p:txBody>
      </p:sp>
      <p:sp>
        <p:nvSpPr>
          <p:cNvPr id="10" name="Text 8"/>
          <p:cNvSpPr/>
          <p:nvPr/>
        </p:nvSpPr>
        <p:spPr>
          <a:xfrm>
            <a:off x="502920" y="4041648"/>
            <a:ext cx="7955280" cy="274320"/>
          </a:xfrm>
          <a:prstGeom prst="rect">
            <a:avLst/>
          </a:prstGeom>
          <a:noFill/>
          <a:ln/>
        </p:spPr>
        <p:txBody>
          <a:bodyPr wrap="square" lIns="91440" tIns="45720" rIns="91440" bIns="45720" rtlCol="0" anchor="ctr"/>
          <a:lstStyle/>
          <a:p>
            <a:r>
              <a:rPr lang="en-US" sz="1100" i="1">
                <a:solidFill>
                  <a:srgbClr val="B0D4E3"/>
                </a:solidFill>
              </a:rPr>
              <a:t>Presented to James Mitchell  · 05/22/26 · Boone High School</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65A82"/>
          </a:solidFill>
          <a:ln/>
        </p:spPr>
        <p:txBody>
          <a:bodyPr/>
          <a:lstStyle/>
          <a:p>
            <a:endParaRPr lang="en-US"/>
          </a:p>
        </p:txBody>
      </p:sp>
      <p:sp>
        <p:nvSpPr>
          <p:cNvPr id="3" name="Text 1"/>
          <p:cNvSpPr/>
          <p:nvPr/>
        </p:nvSpPr>
        <p:spPr>
          <a:xfrm>
            <a:off x="365760" y="0"/>
            <a:ext cx="6400800" cy="640080"/>
          </a:xfrm>
          <a:prstGeom prst="rect">
            <a:avLst/>
          </a:prstGeom>
          <a:noFill/>
          <a:ln/>
        </p:spPr>
        <p:txBody>
          <a:bodyPr wrap="square" rtlCol="0" anchor="ctr"/>
          <a:lstStyle/>
          <a:p>
            <a:pPr marL="0" indent="0">
              <a:buNone/>
            </a:pPr>
            <a:r>
              <a:rPr lang="en-US" sz="2200" b="1" dirty="0">
                <a:solidFill>
                  <a:srgbClr val="FFFFFF"/>
                </a:solidFill>
              </a:rPr>
              <a:t>Part 1</a:t>
            </a:r>
            <a:r>
              <a:rPr lang="en-US" sz="2200" b="1">
                <a:solidFill>
                  <a:srgbClr val="FFFFFF"/>
                </a:solidFill>
              </a:rPr>
              <a:t>: City Power </a:t>
            </a:r>
            <a:r>
              <a:rPr lang="en-US" sz="2200" b="1" dirty="0">
                <a:solidFill>
                  <a:srgbClr val="FFFFFF"/>
                </a:solidFill>
              </a:rPr>
              <a:t>Profile</a:t>
            </a:r>
            <a:endParaRPr lang="en-US" sz="2200" dirty="0"/>
          </a:p>
        </p:txBody>
      </p:sp>
      <p:sp>
        <p:nvSpPr>
          <p:cNvPr id="4" name="Shape 2"/>
          <p:cNvSpPr/>
          <p:nvPr/>
        </p:nvSpPr>
        <p:spPr>
          <a:xfrm>
            <a:off x="7498080" y="182880"/>
            <a:ext cx="1463040" cy="256032"/>
          </a:xfrm>
          <a:prstGeom prst="roundRect">
            <a:avLst>
              <a:gd name="adj" fmla="val 17857"/>
            </a:avLst>
          </a:prstGeom>
          <a:solidFill>
            <a:srgbClr val="00B4D8"/>
          </a:solidFill>
          <a:ln/>
        </p:spPr>
        <p:txBody>
          <a:bodyPr/>
          <a:lstStyle/>
          <a:p>
            <a:endParaRPr lang="en-US"/>
          </a:p>
        </p:txBody>
      </p:sp>
      <p:sp>
        <p:nvSpPr>
          <p:cNvPr id="5" name="Text 3"/>
          <p:cNvSpPr/>
          <p:nvPr/>
        </p:nvSpPr>
        <p:spPr>
          <a:xfrm>
            <a:off x="7498080" y="182880"/>
            <a:ext cx="1463040" cy="256032"/>
          </a:xfrm>
          <a:prstGeom prst="rect">
            <a:avLst/>
          </a:prstGeom>
          <a:noFill/>
          <a:ln/>
        </p:spPr>
        <p:txBody>
          <a:bodyPr wrap="square" lIns="0" tIns="0" rIns="0" bIns="0" rtlCol="0" anchor="ctr"/>
          <a:lstStyle/>
          <a:p>
            <a:pPr marL="0" indent="0" algn="ctr">
              <a:buNone/>
            </a:pPr>
            <a:r>
              <a:rPr lang="en-US" sz="900" b="1">
                <a:solidFill>
                  <a:srgbClr val="065A82"/>
                </a:solidFill>
              </a:rPr>
              <a:t>SLIDE 2 OF 9</a:t>
            </a:r>
            <a:endParaRPr lang="en-US" sz="900" dirty="0"/>
          </a:p>
        </p:txBody>
      </p:sp>
      <p:sp>
        <p:nvSpPr>
          <p:cNvPr id="6" name="Shape 4"/>
          <p:cNvSpPr/>
          <p:nvPr/>
        </p:nvSpPr>
        <p:spPr>
          <a:xfrm>
            <a:off x="274320" y="777240"/>
            <a:ext cx="2743200" cy="347472"/>
          </a:xfrm>
          <a:prstGeom prst="rect">
            <a:avLst/>
          </a:prstGeom>
          <a:solidFill>
            <a:srgbClr val="991B1B"/>
          </a:solidFill>
          <a:ln/>
        </p:spPr>
        <p:txBody>
          <a:bodyPr/>
          <a:lstStyle/>
          <a:p>
            <a:endParaRPr lang="en-US"/>
          </a:p>
        </p:txBody>
      </p:sp>
      <p:sp>
        <p:nvSpPr>
          <p:cNvPr id="7" name="Text 5"/>
          <p:cNvSpPr/>
          <p:nvPr/>
        </p:nvSpPr>
        <p:spPr>
          <a:xfrm>
            <a:off x="274320" y="777240"/>
            <a:ext cx="2743200" cy="347472"/>
          </a:xfrm>
          <a:prstGeom prst="rect">
            <a:avLst/>
          </a:prstGeom>
          <a:noFill/>
          <a:ln/>
        </p:spPr>
        <p:txBody>
          <a:bodyPr wrap="square" lIns="0" tIns="0" rIns="0" bIns="0" rtlCol="0" anchor="ctr"/>
          <a:lstStyle/>
          <a:p>
            <a:pPr marL="0" indent="0" algn="ctr">
              <a:buNone/>
            </a:pPr>
            <a:r>
              <a:rPr lang="en-US" sz="1300" b="1" dirty="0">
                <a:solidFill>
                  <a:srgbClr val="FFFFFF"/>
                </a:solidFill>
              </a:rPr>
              <a:t>CRITICAL</a:t>
            </a:r>
            <a:endParaRPr lang="en-US" sz="1300" dirty="0"/>
          </a:p>
        </p:txBody>
      </p:sp>
      <p:sp>
        <p:nvSpPr>
          <p:cNvPr id="8" name="Shape 6"/>
          <p:cNvSpPr/>
          <p:nvPr/>
        </p:nvSpPr>
        <p:spPr>
          <a:xfrm>
            <a:off x="274320" y="1124712"/>
            <a:ext cx="2743200" cy="2011680"/>
          </a:xfrm>
          <a:prstGeom prst="rect">
            <a:avLst/>
          </a:prstGeom>
          <a:solidFill>
            <a:srgbClr val="FEE2E2"/>
          </a:solidFill>
          <a:ln/>
          <a:effectLst>
            <a:outerShdw blurRad="50800" dist="25400" dir="8100000" algn="bl" rotWithShape="0">
              <a:srgbClr val="000000">
                <a:alpha val="8000"/>
              </a:srgbClr>
            </a:outerShdw>
          </a:effectLst>
        </p:spPr>
        <p:txBody>
          <a:bodyPr/>
          <a:lstStyle/>
          <a:p>
            <a:endParaRPr lang="en-US"/>
          </a:p>
        </p:txBody>
      </p:sp>
      <p:sp>
        <p:nvSpPr>
          <p:cNvPr id="9" name="Text 7"/>
          <p:cNvSpPr/>
          <p:nvPr/>
        </p:nvSpPr>
        <p:spPr>
          <a:xfrm>
            <a:off x="365760" y="1188720"/>
            <a:ext cx="2560320" cy="1554480"/>
          </a:xfrm>
          <a:prstGeom prst="rect">
            <a:avLst/>
          </a:prstGeom>
          <a:noFill/>
          <a:ln/>
        </p:spPr>
        <p:txBody>
          <a:bodyPr wrap="square" lIns="91440" tIns="45720" rIns="91440" bIns="45720" rtlCol="0" anchor="ctr"/>
          <a:lstStyle/>
          <a:p>
            <a:r>
              <a:rPr lang="en-US" sz="1100" dirty="0">
                <a:solidFill>
                  <a:srgbClr val="1E293B"/>
                </a:solidFill>
              </a:rPr>
              <a:t>Hospital, Clinic, Fire Station, Police Station, </a:t>
            </a:r>
            <a:r>
              <a:rPr lang="en-US" sz="1100">
                <a:solidFill>
                  <a:srgbClr val="1E293B"/>
                </a:solidFill>
              </a:rPr>
              <a:t>Grocery Store</a:t>
            </a:r>
            <a:endParaRPr lang="en-US" sz="1100" dirty="0">
              <a:solidFill>
                <a:srgbClr val="1E293B"/>
              </a:solidFill>
              <a:ea typeface="Calibri"/>
              <a:cs typeface="Calibri"/>
            </a:endParaRPr>
          </a:p>
        </p:txBody>
      </p:sp>
      <p:sp>
        <p:nvSpPr>
          <p:cNvPr id="10" name="Shape 8"/>
          <p:cNvSpPr/>
          <p:nvPr/>
        </p:nvSpPr>
        <p:spPr>
          <a:xfrm>
            <a:off x="274320" y="3136392"/>
            <a:ext cx="2743200" cy="320040"/>
          </a:xfrm>
          <a:prstGeom prst="rect">
            <a:avLst/>
          </a:prstGeom>
          <a:solidFill>
            <a:srgbClr val="991B1B">
              <a:alpha val="15000"/>
            </a:srgbClr>
          </a:solidFill>
          <a:ln/>
        </p:spPr>
        <p:txBody>
          <a:bodyPr/>
          <a:lstStyle/>
          <a:p>
            <a:endParaRPr lang="en-US"/>
          </a:p>
        </p:txBody>
      </p:sp>
      <p:sp>
        <p:nvSpPr>
          <p:cNvPr id="11" name="Text 9"/>
          <p:cNvSpPr/>
          <p:nvPr/>
        </p:nvSpPr>
        <p:spPr>
          <a:xfrm>
            <a:off x="274320" y="3136392"/>
            <a:ext cx="2743200" cy="320040"/>
          </a:xfrm>
          <a:prstGeom prst="rect">
            <a:avLst/>
          </a:prstGeom>
          <a:noFill/>
          <a:ln/>
        </p:spPr>
        <p:txBody>
          <a:bodyPr wrap="square" lIns="0" tIns="0" rIns="0" bIns="0" rtlCol="0" anchor="ctr"/>
          <a:lstStyle/>
          <a:p>
            <a:pPr marL="0" indent="0" algn="ctr">
              <a:buNone/>
            </a:pPr>
            <a:r>
              <a:rPr lang="en-US" sz="900" i="1" dirty="0">
                <a:solidFill>
                  <a:srgbClr val="991B1B"/>
                </a:solidFill>
              </a:rPr>
              <a:t>Restored first — life safety</a:t>
            </a:r>
            <a:endParaRPr lang="en-US" sz="900" dirty="0"/>
          </a:p>
        </p:txBody>
      </p:sp>
      <p:sp>
        <p:nvSpPr>
          <p:cNvPr id="12" name="Shape 10"/>
          <p:cNvSpPr/>
          <p:nvPr/>
        </p:nvSpPr>
        <p:spPr>
          <a:xfrm>
            <a:off x="3200400" y="777240"/>
            <a:ext cx="2743200" cy="347472"/>
          </a:xfrm>
          <a:prstGeom prst="rect">
            <a:avLst/>
          </a:prstGeom>
          <a:solidFill>
            <a:srgbClr val="B45309"/>
          </a:solidFill>
          <a:ln/>
        </p:spPr>
        <p:txBody>
          <a:bodyPr/>
          <a:lstStyle/>
          <a:p>
            <a:endParaRPr lang="en-US"/>
          </a:p>
        </p:txBody>
      </p:sp>
      <p:sp>
        <p:nvSpPr>
          <p:cNvPr id="13" name="Text 11"/>
          <p:cNvSpPr/>
          <p:nvPr/>
        </p:nvSpPr>
        <p:spPr>
          <a:xfrm>
            <a:off x="3200400" y="777240"/>
            <a:ext cx="2743200" cy="347472"/>
          </a:xfrm>
          <a:prstGeom prst="rect">
            <a:avLst/>
          </a:prstGeom>
          <a:noFill/>
          <a:ln/>
        </p:spPr>
        <p:txBody>
          <a:bodyPr wrap="square" lIns="0" tIns="0" rIns="0" bIns="0" rtlCol="0" anchor="ctr"/>
          <a:lstStyle/>
          <a:p>
            <a:pPr marL="0" indent="0" algn="ctr">
              <a:buNone/>
            </a:pPr>
            <a:r>
              <a:rPr lang="en-US" sz="1300" b="1" dirty="0">
                <a:solidFill>
                  <a:srgbClr val="FFFFFF"/>
                </a:solidFill>
              </a:rPr>
              <a:t>FLEXIBLE</a:t>
            </a:r>
            <a:endParaRPr lang="en-US" sz="1300" dirty="0"/>
          </a:p>
        </p:txBody>
      </p:sp>
      <p:sp>
        <p:nvSpPr>
          <p:cNvPr id="14" name="Shape 12"/>
          <p:cNvSpPr/>
          <p:nvPr/>
        </p:nvSpPr>
        <p:spPr>
          <a:xfrm>
            <a:off x="3200400" y="1124712"/>
            <a:ext cx="2743200" cy="2011680"/>
          </a:xfrm>
          <a:prstGeom prst="rect">
            <a:avLst/>
          </a:prstGeom>
          <a:solidFill>
            <a:srgbClr val="FEF3C7"/>
          </a:solidFill>
          <a:ln/>
          <a:effectLst>
            <a:outerShdw blurRad="50800" dist="25400" dir="8100000" algn="bl" rotWithShape="0">
              <a:srgbClr val="000000">
                <a:alpha val="8000"/>
              </a:srgbClr>
            </a:outerShdw>
          </a:effectLst>
        </p:spPr>
        <p:txBody>
          <a:bodyPr/>
          <a:lstStyle/>
          <a:p>
            <a:endParaRPr lang="en-US"/>
          </a:p>
        </p:txBody>
      </p:sp>
      <p:sp>
        <p:nvSpPr>
          <p:cNvPr id="15" name="Text 13"/>
          <p:cNvSpPr/>
          <p:nvPr/>
        </p:nvSpPr>
        <p:spPr>
          <a:xfrm>
            <a:off x="3291840" y="1188720"/>
            <a:ext cx="2560320" cy="1554480"/>
          </a:xfrm>
          <a:prstGeom prst="rect">
            <a:avLst/>
          </a:prstGeom>
          <a:noFill/>
          <a:ln/>
        </p:spPr>
        <p:txBody>
          <a:bodyPr wrap="square" lIns="91440" tIns="45720" rIns="91440" bIns="45720" rtlCol="0" anchor="ctr"/>
          <a:lstStyle/>
          <a:p>
            <a:r>
              <a:rPr lang="en-US" sz="1100" dirty="0">
                <a:solidFill>
                  <a:srgbClr val="1E293B"/>
                </a:solidFill>
                <a:ea typeface="Calibri"/>
                <a:cs typeface="Calibri"/>
              </a:rPr>
              <a:t>K12 School, Library, Restaurant, Fast </a:t>
            </a:r>
            <a:r>
              <a:rPr lang="en-US" sz="1100">
                <a:solidFill>
                  <a:srgbClr val="1E293B"/>
                </a:solidFill>
                <a:ea typeface="Calibri"/>
                <a:cs typeface="Calibri"/>
              </a:rPr>
              <a:t>Food, Bus Station, Gas Station</a:t>
            </a:r>
            <a:endParaRPr lang="en-US" sz="1100" dirty="0">
              <a:solidFill>
                <a:srgbClr val="000000"/>
              </a:solidFill>
              <a:ea typeface="Calibri"/>
              <a:cs typeface="Calibri"/>
            </a:endParaRPr>
          </a:p>
        </p:txBody>
      </p:sp>
      <p:sp>
        <p:nvSpPr>
          <p:cNvPr id="16" name="Shape 14"/>
          <p:cNvSpPr/>
          <p:nvPr/>
        </p:nvSpPr>
        <p:spPr>
          <a:xfrm>
            <a:off x="3200400" y="3136392"/>
            <a:ext cx="2743200" cy="320040"/>
          </a:xfrm>
          <a:prstGeom prst="rect">
            <a:avLst/>
          </a:prstGeom>
          <a:solidFill>
            <a:srgbClr val="B45309">
              <a:alpha val="15000"/>
            </a:srgbClr>
          </a:solidFill>
          <a:ln/>
        </p:spPr>
        <p:txBody>
          <a:bodyPr/>
          <a:lstStyle/>
          <a:p>
            <a:endParaRPr lang="en-US"/>
          </a:p>
        </p:txBody>
      </p:sp>
      <p:sp>
        <p:nvSpPr>
          <p:cNvPr id="17" name="Text 15"/>
          <p:cNvSpPr/>
          <p:nvPr/>
        </p:nvSpPr>
        <p:spPr>
          <a:xfrm>
            <a:off x="3200400" y="3136392"/>
            <a:ext cx="2743200" cy="320040"/>
          </a:xfrm>
          <a:prstGeom prst="rect">
            <a:avLst/>
          </a:prstGeom>
          <a:noFill/>
          <a:ln/>
        </p:spPr>
        <p:txBody>
          <a:bodyPr wrap="square" lIns="0" tIns="0" rIns="0" bIns="0" rtlCol="0" anchor="ctr"/>
          <a:lstStyle/>
          <a:p>
            <a:pPr marL="0" indent="0" algn="ctr">
              <a:buNone/>
            </a:pPr>
            <a:r>
              <a:rPr lang="en-US" sz="900" i="1" dirty="0">
                <a:solidFill>
                  <a:srgbClr val="B45309"/>
                </a:solidFill>
              </a:rPr>
              <a:t>Restored second — important services</a:t>
            </a:r>
            <a:endParaRPr lang="en-US" sz="900" dirty="0"/>
          </a:p>
        </p:txBody>
      </p:sp>
      <p:sp>
        <p:nvSpPr>
          <p:cNvPr id="18" name="Shape 16"/>
          <p:cNvSpPr/>
          <p:nvPr/>
        </p:nvSpPr>
        <p:spPr>
          <a:xfrm>
            <a:off x="6126480" y="777240"/>
            <a:ext cx="2743200" cy="347472"/>
          </a:xfrm>
          <a:prstGeom prst="rect">
            <a:avLst/>
          </a:prstGeom>
          <a:solidFill>
            <a:srgbClr val="1E5631"/>
          </a:solidFill>
          <a:ln/>
        </p:spPr>
        <p:txBody>
          <a:bodyPr/>
          <a:lstStyle/>
          <a:p>
            <a:endParaRPr lang="en-US"/>
          </a:p>
        </p:txBody>
      </p:sp>
      <p:sp>
        <p:nvSpPr>
          <p:cNvPr id="19" name="Text 17"/>
          <p:cNvSpPr/>
          <p:nvPr/>
        </p:nvSpPr>
        <p:spPr>
          <a:xfrm>
            <a:off x="6126480" y="777240"/>
            <a:ext cx="2743200" cy="347472"/>
          </a:xfrm>
          <a:prstGeom prst="rect">
            <a:avLst/>
          </a:prstGeom>
          <a:noFill/>
          <a:ln/>
        </p:spPr>
        <p:txBody>
          <a:bodyPr wrap="square" lIns="0" tIns="0" rIns="0" bIns="0" rtlCol="0" anchor="ctr"/>
          <a:lstStyle/>
          <a:p>
            <a:pPr marL="0" indent="0" algn="ctr">
              <a:buNone/>
            </a:pPr>
            <a:r>
              <a:rPr lang="en-US" sz="1300" b="1" dirty="0">
                <a:solidFill>
                  <a:srgbClr val="FFFFFF"/>
                </a:solidFill>
              </a:rPr>
              <a:t>NON-CRITICAL</a:t>
            </a:r>
            <a:endParaRPr lang="en-US" sz="1300" dirty="0"/>
          </a:p>
        </p:txBody>
      </p:sp>
      <p:sp>
        <p:nvSpPr>
          <p:cNvPr id="20" name="Shape 18"/>
          <p:cNvSpPr/>
          <p:nvPr/>
        </p:nvSpPr>
        <p:spPr>
          <a:xfrm>
            <a:off x="6126480" y="1124712"/>
            <a:ext cx="2743200" cy="2011680"/>
          </a:xfrm>
          <a:prstGeom prst="rect">
            <a:avLst/>
          </a:prstGeom>
          <a:solidFill>
            <a:srgbClr val="D1FAE5"/>
          </a:solidFill>
          <a:ln/>
          <a:effectLst>
            <a:outerShdw blurRad="50800" dist="25400" dir="8100000" algn="bl" rotWithShape="0">
              <a:srgbClr val="000000">
                <a:alpha val="8000"/>
              </a:srgbClr>
            </a:outerShdw>
          </a:effectLst>
        </p:spPr>
        <p:txBody>
          <a:bodyPr/>
          <a:lstStyle/>
          <a:p>
            <a:endParaRPr lang="en-US"/>
          </a:p>
        </p:txBody>
      </p:sp>
      <p:sp>
        <p:nvSpPr>
          <p:cNvPr id="21" name="Text 19"/>
          <p:cNvSpPr/>
          <p:nvPr/>
        </p:nvSpPr>
        <p:spPr>
          <a:xfrm>
            <a:off x="6217920" y="1188720"/>
            <a:ext cx="2560320" cy="1554480"/>
          </a:xfrm>
          <a:prstGeom prst="rect">
            <a:avLst/>
          </a:prstGeom>
          <a:noFill/>
          <a:ln/>
        </p:spPr>
        <p:txBody>
          <a:bodyPr wrap="square" lIns="91440" tIns="45720" rIns="91440" bIns="45720" rtlCol="0" anchor="ctr"/>
          <a:lstStyle/>
          <a:p>
            <a:r>
              <a:rPr lang="en-US" sz="1100" dirty="0">
                <a:solidFill>
                  <a:srgbClr val="1E293B"/>
                </a:solidFill>
                <a:ea typeface="Calibri"/>
                <a:cs typeface="Calibri"/>
              </a:rPr>
              <a:t>College, Commercial Office, Warehouse, </a:t>
            </a:r>
            <a:r>
              <a:rPr lang="en-US" sz="1100">
                <a:solidFill>
                  <a:srgbClr val="1E293B"/>
                </a:solidFill>
                <a:ea typeface="Calibri"/>
                <a:cs typeface="Calibri"/>
              </a:rPr>
              <a:t>Hotel, Post Office, Shopping Mall, Fitness Center, Movie Theater</a:t>
            </a:r>
            <a:endParaRPr lang="en-US" sz="1100" dirty="0">
              <a:solidFill>
                <a:srgbClr val="1E293B"/>
              </a:solidFill>
              <a:ea typeface="Calibri"/>
              <a:cs typeface="Calibri"/>
            </a:endParaRPr>
          </a:p>
        </p:txBody>
      </p:sp>
      <p:sp>
        <p:nvSpPr>
          <p:cNvPr id="22" name="Shape 20"/>
          <p:cNvSpPr/>
          <p:nvPr/>
        </p:nvSpPr>
        <p:spPr>
          <a:xfrm>
            <a:off x="6126480" y="3136392"/>
            <a:ext cx="2743200" cy="320040"/>
          </a:xfrm>
          <a:prstGeom prst="rect">
            <a:avLst/>
          </a:prstGeom>
          <a:solidFill>
            <a:srgbClr val="1E5631">
              <a:alpha val="15000"/>
            </a:srgbClr>
          </a:solidFill>
          <a:ln/>
        </p:spPr>
        <p:txBody>
          <a:bodyPr/>
          <a:lstStyle/>
          <a:p>
            <a:endParaRPr lang="en-US"/>
          </a:p>
        </p:txBody>
      </p:sp>
      <p:sp>
        <p:nvSpPr>
          <p:cNvPr id="23" name="Text 21"/>
          <p:cNvSpPr/>
          <p:nvPr/>
        </p:nvSpPr>
        <p:spPr>
          <a:xfrm>
            <a:off x="6126480" y="3136392"/>
            <a:ext cx="2743200" cy="320040"/>
          </a:xfrm>
          <a:prstGeom prst="rect">
            <a:avLst/>
          </a:prstGeom>
          <a:noFill/>
          <a:ln/>
        </p:spPr>
        <p:txBody>
          <a:bodyPr wrap="square" lIns="0" tIns="0" rIns="0" bIns="0" rtlCol="0" anchor="ctr"/>
          <a:lstStyle/>
          <a:p>
            <a:pPr marL="0" indent="0" algn="ctr">
              <a:buNone/>
            </a:pPr>
            <a:r>
              <a:rPr lang="en-US" sz="900" i="1" dirty="0">
                <a:solidFill>
                  <a:srgbClr val="1E5631"/>
                </a:solidFill>
              </a:rPr>
              <a:t>Restored last — lowest urgency</a:t>
            </a:r>
            <a:endParaRPr lang="en-US" sz="900" dirty="0"/>
          </a:p>
        </p:txBody>
      </p:sp>
      <p:sp>
        <p:nvSpPr>
          <p:cNvPr id="24" name="Shape 22"/>
          <p:cNvSpPr/>
          <p:nvPr/>
        </p:nvSpPr>
        <p:spPr>
          <a:xfrm>
            <a:off x="274320" y="3566160"/>
            <a:ext cx="8595360" cy="777240"/>
          </a:xfrm>
          <a:prstGeom prst="rect">
            <a:avLst/>
          </a:prstGeom>
          <a:solidFill>
            <a:srgbClr val="E0F2FE"/>
          </a:solidFill>
          <a:ln/>
          <a:effectLst>
            <a:outerShdw blurRad="38100" dist="12700" dir="8100000" algn="bl" rotWithShape="0">
              <a:srgbClr val="000000">
                <a:alpha val="8000"/>
              </a:srgbClr>
            </a:outerShdw>
          </a:effectLst>
        </p:spPr>
        <p:txBody>
          <a:bodyPr/>
          <a:lstStyle/>
          <a:p>
            <a:endParaRPr lang="en-US"/>
          </a:p>
        </p:txBody>
      </p:sp>
      <p:sp>
        <p:nvSpPr>
          <p:cNvPr id="25" name="Text 23"/>
          <p:cNvSpPr/>
          <p:nvPr/>
        </p:nvSpPr>
        <p:spPr>
          <a:xfrm>
            <a:off x="411480" y="3611880"/>
            <a:ext cx="8321040" cy="685800"/>
          </a:xfrm>
          <a:prstGeom prst="rect">
            <a:avLst/>
          </a:prstGeom>
          <a:noFill/>
          <a:ln/>
        </p:spPr>
        <p:txBody>
          <a:bodyPr wrap="square" lIns="91440" tIns="45720" rIns="91440" bIns="45720" rtlCol="0" anchor="ctr"/>
          <a:lstStyle/>
          <a:p>
            <a:r>
              <a:rPr lang="en-US" sz="1100" b="1" dirty="0">
                <a:solidFill>
                  <a:srgbClr val="065A82"/>
                </a:solidFill>
              </a:rPr>
              <a:t>Our hardest labeling decision: We debated whether grocery stores should be Critical or Flexible. We eventually decided to move them to </a:t>
            </a:r>
            <a:r>
              <a:rPr lang="en-US" sz="1100" b="1">
                <a:solidFill>
                  <a:srgbClr val="065A82"/>
                </a:solidFill>
              </a:rPr>
              <a:t>critical due to their importance in providing food and the quantity of perishables that would go bad without power.</a:t>
            </a:r>
            <a:endParaRPr lang="en-US" sz="1100" i="1">
              <a:solidFill>
                <a:srgbClr val="1E293B"/>
              </a:solidFill>
              <a:ea typeface="Calibri"/>
              <a:cs typeface="Calibri"/>
            </a:endParaRPr>
          </a:p>
        </p:txBody>
      </p:sp>
      <p:sp>
        <p:nvSpPr>
          <p:cNvPr id="26" name="Text 24"/>
          <p:cNvSpPr/>
          <p:nvPr/>
        </p:nvSpPr>
        <p:spPr>
          <a:xfrm>
            <a:off x="0" y="4887468"/>
            <a:ext cx="9144000" cy="256032"/>
          </a:xfrm>
          <a:prstGeom prst="rect">
            <a:avLst/>
          </a:prstGeom>
          <a:noFill/>
          <a:ln/>
        </p:spPr>
        <p:txBody>
          <a:bodyPr wrap="square" lIns="91440" tIns="45720" rIns="91440" bIns="45720" rtlCol="0" anchor="ctr"/>
          <a:lstStyle/>
          <a:p>
            <a:pPr algn="ctr"/>
            <a:r>
              <a:rPr lang="en-US" sz="800" i="1">
                <a:solidFill>
                  <a:srgbClr val="64748B"/>
                </a:solidFill>
              </a:rPr>
              <a:t>Smart City AI Design Challenge  · James Mitchell  ·  May 2025</a:t>
            </a:r>
            <a:endParaRPr lang="en-US" sz="800"/>
          </a:p>
        </p:txBody>
      </p:sp>
      <p:sp>
        <p:nvSpPr>
          <p:cNvPr id="27" name="Text 25"/>
          <p:cNvSpPr/>
          <p:nvPr/>
        </p:nvSpPr>
        <p:spPr>
          <a:xfrm>
            <a:off x="8595360" y="4869180"/>
            <a:ext cx="457200" cy="228600"/>
          </a:xfrm>
          <a:prstGeom prst="rect">
            <a:avLst/>
          </a:prstGeom>
          <a:noFill/>
          <a:ln/>
        </p:spPr>
        <p:txBody>
          <a:bodyPr wrap="square" lIns="91440" tIns="45720" rIns="91440" bIns="45720" rtlCol="0" anchor="ctr"/>
          <a:lstStyle/>
          <a:p>
            <a:pPr marL="0" indent="0" algn="r">
              <a:buNone/>
            </a:pPr>
            <a:r>
              <a:rPr lang="en-US" sz="800">
                <a:solidFill>
                  <a:srgbClr val="64748B"/>
                </a:solidFill>
              </a:rPr>
              <a:t>2 / 9</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C7293"/>
          </a:solidFill>
          <a:ln/>
        </p:spPr>
        <p:txBody>
          <a:bodyPr/>
          <a:lstStyle/>
          <a:p>
            <a:endParaRPr lang="en-US"/>
          </a:p>
        </p:txBody>
      </p:sp>
      <p:sp>
        <p:nvSpPr>
          <p:cNvPr id="3" name="Text 1"/>
          <p:cNvSpPr/>
          <p:nvPr/>
        </p:nvSpPr>
        <p:spPr>
          <a:xfrm>
            <a:off x="365760" y="0"/>
            <a:ext cx="6400800" cy="640080"/>
          </a:xfrm>
          <a:prstGeom prst="rect">
            <a:avLst/>
          </a:prstGeom>
          <a:noFill/>
          <a:ln/>
        </p:spPr>
        <p:txBody>
          <a:bodyPr wrap="square" rtlCol="0" anchor="ctr"/>
          <a:lstStyle/>
          <a:p>
            <a:pPr marL="0" indent="0">
              <a:buNone/>
            </a:pPr>
            <a:r>
              <a:rPr lang="en-US" sz="2200" b="1" dirty="0">
                <a:solidFill>
                  <a:srgbClr val="FFFFFF"/>
                </a:solidFill>
              </a:rPr>
              <a:t>Part 2: System Data Architecture</a:t>
            </a:r>
            <a:endParaRPr lang="en-US" sz="2200" dirty="0"/>
          </a:p>
        </p:txBody>
      </p:sp>
      <p:sp>
        <p:nvSpPr>
          <p:cNvPr id="4" name="Shape 2"/>
          <p:cNvSpPr/>
          <p:nvPr/>
        </p:nvSpPr>
        <p:spPr>
          <a:xfrm>
            <a:off x="7498080" y="182880"/>
            <a:ext cx="1463040" cy="256032"/>
          </a:xfrm>
          <a:prstGeom prst="roundRect">
            <a:avLst>
              <a:gd name="adj" fmla="val 17857"/>
            </a:avLst>
          </a:prstGeom>
          <a:solidFill>
            <a:srgbClr val="00B4D8"/>
          </a:solidFill>
          <a:ln/>
        </p:spPr>
        <p:txBody>
          <a:bodyPr/>
          <a:lstStyle/>
          <a:p>
            <a:endParaRPr lang="en-US"/>
          </a:p>
        </p:txBody>
      </p:sp>
      <p:sp>
        <p:nvSpPr>
          <p:cNvPr id="5" name="Text 3"/>
          <p:cNvSpPr/>
          <p:nvPr/>
        </p:nvSpPr>
        <p:spPr>
          <a:xfrm>
            <a:off x="7498080" y="182880"/>
            <a:ext cx="1463040" cy="256032"/>
          </a:xfrm>
          <a:prstGeom prst="rect">
            <a:avLst/>
          </a:prstGeom>
          <a:noFill/>
          <a:ln/>
        </p:spPr>
        <p:txBody>
          <a:bodyPr wrap="square" lIns="0" tIns="0" rIns="0" bIns="0" rtlCol="0" anchor="ctr"/>
          <a:lstStyle/>
          <a:p>
            <a:pPr marL="0" indent="0" algn="ctr">
              <a:buNone/>
            </a:pPr>
            <a:r>
              <a:rPr lang="en-US" sz="900" b="1">
                <a:solidFill>
                  <a:srgbClr val="065A82"/>
                </a:solidFill>
              </a:rPr>
              <a:t>SLIDE 3 OF 9</a:t>
            </a:r>
            <a:endParaRPr lang="en-US" sz="900" dirty="0"/>
          </a:p>
        </p:txBody>
      </p:sp>
      <p:sp>
        <p:nvSpPr>
          <p:cNvPr id="6" name="Shape 4"/>
          <p:cNvSpPr/>
          <p:nvPr/>
        </p:nvSpPr>
        <p:spPr>
          <a:xfrm>
            <a:off x="1337744" y="992162"/>
            <a:ext cx="6388938" cy="3179276"/>
          </a:xfrm>
          <a:prstGeom prst="rect">
            <a:avLst/>
          </a:prstGeom>
          <a:solidFill>
            <a:srgbClr val="F8FAFC"/>
          </a:solidFill>
          <a:ln w="12700">
            <a:solidFill>
              <a:srgbClr val="CBD5E1"/>
            </a:solidFill>
            <a:prstDash val="dash"/>
          </a:ln>
          <a:effectLst>
            <a:outerShdw blurRad="38100" dist="12700" dir="8100000" algn="bl" rotWithShape="0">
              <a:srgbClr val="000000">
                <a:alpha val="6000"/>
              </a:srgbClr>
            </a:outerShdw>
          </a:effectLst>
        </p:spPr>
        <p:txBody>
          <a:bodyPr/>
          <a:lstStyle/>
          <a:p>
            <a:endParaRPr lang="en-US"/>
          </a:p>
        </p:txBody>
      </p:sp>
      <p:sp>
        <p:nvSpPr>
          <p:cNvPr id="7" name="Text 5"/>
          <p:cNvSpPr/>
          <p:nvPr/>
        </p:nvSpPr>
        <p:spPr>
          <a:xfrm>
            <a:off x="274320" y="777240"/>
            <a:ext cx="8595360" cy="2926080"/>
          </a:xfrm>
          <a:prstGeom prst="rect">
            <a:avLst/>
          </a:prstGeom>
          <a:noFill/>
          <a:ln/>
        </p:spPr>
        <p:txBody>
          <a:bodyPr wrap="square" lIns="91440" tIns="45720" rIns="91440" bIns="45720" rtlCol="0" anchor="ctr"/>
          <a:lstStyle/>
          <a:p>
            <a:pPr marL="0" indent="0" algn="ctr">
              <a:buNone/>
            </a:pPr>
            <a:endParaRPr lang="en-US" sz="1600" i="1" dirty="0">
              <a:solidFill>
                <a:srgbClr val="94A3B8"/>
              </a:solidFill>
              <a:ea typeface="Calibri"/>
              <a:cs typeface="Calibri"/>
            </a:endParaRPr>
          </a:p>
        </p:txBody>
      </p:sp>
      <p:sp>
        <p:nvSpPr>
          <p:cNvPr id="8" name="Shape 6"/>
          <p:cNvSpPr/>
          <p:nvPr/>
        </p:nvSpPr>
        <p:spPr>
          <a:xfrm>
            <a:off x="274320" y="3794760"/>
            <a:ext cx="8595360" cy="777240"/>
          </a:xfrm>
          <a:prstGeom prst="rect">
            <a:avLst/>
          </a:prstGeom>
          <a:solidFill>
            <a:srgbClr val="EFF6FF"/>
          </a:solidFill>
          <a:ln/>
        </p:spPr>
        <p:txBody>
          <a:bodyPr/>
          <a:lstStyle/>
          <a:p>
            <a:endParaRPr lang="en-US"/>
          </a:p>
        </p:txBody>
      </p:sp>
      <p:sp>
        <p:nvSpPr>
          <p:cNvPr id="9" name="Text 7"/>
          <p:cNvSpPr/>
          <p:nvPr/>
        </p:nvSpPr>
        <p:spPr>
          <a:xfrm>
            <a:off x="411480" y="4411980"/>
            <a:ext cx="8321040" cy="320040"/>
          </a:xfrm>
          <a:prstGeom prst="rect">
            <a:avLst/>
          </a:prstGeom>
          <a:noFill/>
          <a:ln/>
        </p:spPr>
        <p:txBody>
          <a:bodyPr wrap="square" lIns="91440" tIns="45720" rIns="91440" bIns="45720" rtlCol="0" anchor="ctr"/>
          <a:lstStyle/>
          <a:p>
            <a:r>
              <a:rPr lang="en-US" sz="1100" b="1" dirty="0">
                <a:solidFill>
                  <a:srgbClr val="1C7293"/>
                </a:solidFill>
              </a:rPr>
              <a:t>Data streams: </a:t>
            </a:r>
            <a:r>
              <a:rPr lang="en-US" sz="1100">
                <a:solidFill>
                  <a:srgbClr val="1E293B"/>
                </a:solidFill>
              </a:rPr>
              <a:t>Historical: all_users_energy.csv  ·  Real-time: Live Sensors  ·  Contextual: Human Input</a:t>
            </a:r>
            <a:endParaRPr lang="en-US" sz="1100"/>
          </a:p>
        </p:txBody>
      </p:sp>
      <p:sp>
        <p:nvSpPr>
          <p:cNvPr id="11" name="Text 9"/>
          <p:cNvSpPr/>
          <p:nvPr/>
        </p:nvSpPr>
        <p:spPr>
          <a:xfrm>
            <a:off x="0" y="4887468"/>
            <a:ext cx="9144000" cy="256032"/>
          </a:xfrm>
          <a:prstGeom prst="rect">
            <a:avLst/>
          </a:prstGeom>
          <a:noFill/>
          <a:ln/>
        </p:spPr>
        <p:txBody>
          <a:bodyPr wrap="square" lIns="91440" tIns="45720" rIns="91440" bIns="45720" rtlCol="0" anchor="ctr"/>
          <a:lstStyle/>
          <a:p>
            <a:pPr algn="ctr"/>
            <a:r>
              <a:rPr lang="en-US" sz="800" i="1">
                <a:solidFill>
                  <a:srgbClr val="64748B"/>
                </a:solidFill>
              </a:rPr>
              <a:t>Smart City AI Design Challenge  · James Mitchell  ·  May 2025</a:t>
            </a:r>
            <a:endParaRPr lang="en-US" sz="800"/>
          </a:p>
        </p:txBody>
      </p:sp>
      <p:sp>
        <p:nvSpPr>
          <p:cNvPr id="12" name="Text 10"/>
          <p:cNvSpPr/>
          <p:nvPr/>
        </p:nvSpPr>
        <p:spPr>
          <a:xfrm>
            <a:off x="8595360" y="4869180"/>
            <a:ext cx="457200" cy="228600"/>
          </a:xfrm>
          <a:prstGeom prst="rect">
            <a:avLst/>
          </a:prstGeom>
          <a:noFill/>
          <a:ln/>
        </p:spPr>
        <p:txBody>
          <a:bodyPr wrap="square" lIns="91440" tIns="45720" rIns="91440" bIns="45720" rtlCol="0" anchor="ctr"/>
          <a:lstStyle/>
          <a:p>
            <a:pPr marL="0" indent="0" algn="r">
              <a:buNone/>
            </a:pPr>
            <a:r>
              <a:rPr lang="en-US" sz="800">
                <a:solidFill>
                  <a:srgbClr val="64748B"/>
                </a:solidFill>
              </a:rPr>
              <a:t>3 / 9</a:t>
            </a:r>
            <a:endParaRPr lang="en-US" sz="800" dirty="0"/>
          </a:p>
        </p:txBody>
      </p:sp>
      <p:pic>
        <p:nvPicPr>
          <p:cNvPr id="13" name="Picture 12" descr="A diagram of a model&#10;&#10;AI-generated content may be incorrect.">
            <a:extLst>
              <a:ext uri="{FF2B5EF4-FFF2-40B4-BE49-F238E27FC236}">
                <a16:creationId xmlns:a16="http://schemas.microsoft.com/office/drawing/2014/main" id="{6B7D462A-258F-33C7-B92A-A8DE8E4A7BC7}"/>
              </a:ext>
            </a:extLst>
          </p:cNvPr>
          <p:cNvPicPr>
            <a:picLocks noChangeAspect="1"/>
          </p:cNvPicPr>
          <p:nvPr/>
        </p:nvPicPr>
        <p:blipFill>
          <a:blip r:embed="rId3"/>
          <a:srcRect t="2983" r="-213" b="5661"/>
          <a:stretch>
            <a:fillRect/>
          </a:stretch>
        </p:blipFill>
        <p:spPr>
          <a:xfrm>
            <a:off x="1340008" y="992182"/>
            <a:ext cx="6463981" cy="319177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65A82"/>
          </a:solidFill>
          <a:ln/>
        </p:spPr>
        <p:txBody>
          <a:bodyPr/>
          <a:lstStyle/>
          <a:p>
            <a:endParaRPr lang="en-US"/>
          </a:p>
        </p:txBody>
      </p:sp>
      <p:sp>
        <p:nvSpPr>
          <p:cNvPr id="3" name="Text 1"/>
          <p:cNvSpPr/>
          <p:nvPr/>
        </p:nvSpPr>
        <p:spPr>
          <a:xfrm>
            <a:off x="365760" y="0"/>
            <a:ext cx="6400800" cy="640080"/>
          </a:xfrm>
          <a:prstGeom prst="rect">
            <a:avLst/>
          </a:prstGeom>
          <a:noFill/>
          <a:ln/>
        </p:spPr>
        <p:txBody>
          <a:bodyPr wrap="square" rtlCol="0" anchor="ctr"/>
          <a:lstStyle/>
          <a:p>
            <a:pPr marL="0" indent="0">
              <a:buNone/>
            </a:pPr>
            <a:r>
              <a:rPr lang="en-US" sz="2200" b="1" dirty="0">
                <a:solidFill>
                  <a:srgbClr val="FFFFFF"/>
                </a:solidFill>
              </a:rPr>
              <a:t>Part 3: Our AI Pipeline</a:t>
            </a:r>
            <a:endParaRPr lang="en-US" sz="2200" dirty="0"/>
          </a:p>
        </p:txBody>
      </p:sp>
      <p:sp>
        <p:nvSpPr>
          <p:cNvPr id="4" name="Shape 2"/>
          <p:cNvSpPr/>
          <p:nvPr/>
        </p:nvSpPr>
        <p:spPr>
          <a:xfrm>
            <a:off x="7498080" y="182880"/>
            <a:ext cx="1463040" cy="256032"/>
          </a:xfrm>
          <a:prstGeom prst="roundRect">
            <a:avLst>
              <a:gd name="adj" fmla="val 17857"/>
            </a:avLst>
          </a:prstGeom>
          <a:solidFill>
            <a:srgbClr val="00B4D8"/>
          </a:solidFill>
          <a:ln/>
        </p:spPr>
        <p:txBody>
          <a:bodyPr/>
          <a:lstStyle/>
          <a:p>
            <a:endParaRPr lang="en-US"/>
          </a:p>
        </p:txBody>
      </p:sp>
      <p:sp>
        <p:nvSpPr>
          <p:cNvPr id="5" name="Text 3"/>
          <p:cNvSpPr/>
          <p:nvPr/>
        </p:nvSpPr>
        <p:spPr>
          <a:xfrm>
            <a:off x="7498080" y="182880"/>
            <a:ext cx="1463040" cy="256032"/>
          </a:xfrm>
          <a:prstGeom prst="rect">
            <a:avLst/>
          </a:prstGeom>
          <a:noFill/>
          <a:ln/>
        </p:spPr>
        <p:txBody>
          <a:bodyPr wrap="square" lIns="0" tIns="0" rIns="0" bIns="0" rtlCol="0" anchor="ctr"/>
          <a:lstStyle/>
          <a:p>
            <a:pPr marL="0" indent="0" algn="ctr">
              <a:buNone/>
            </a:pPr>
            <a:r>
              <a:rPr lang="en-US" sz="900" b="1">
                <a:solidFill>
                  <a:srgbClr val="065A82"/>
                </a:solidFill>
              </a:rPr>
              <a:t>SLIDE 4 OF 9</a:t>
            </a:r>
            <a:endParaRPr lang="en-US" sz="900"/>
          </a:p>
        </p:txBody>
      </p:sp>
      <p:sp>
        <p:nvSpPr>
          <p:cNvPr id="6" name="Shape 4"/>
          <p:cNvSpPr/>
          <p:nvPr/>
        </p:nvSpPr>
        <p:spPr>
          <a:xfrm>
            <a:off x="182880" y="749808"/>
            <a:ext cx="2834640" cy="347472"/>
          </a:xfrm>
          <a:prstGeom prst="rect">
            <a:avLst/>
          </a:prstGeom>
          <a:solidFill>
            <a:srgbClr val="1E5631"/>
          </a:solidFill>
          <a:ln/>
        </p:spPr>
        <p:txBody>
          <a:bodyPr/>
          <a:lstStyle/>
          <a:p>
            <a:endParaRPr lang="en-US"/>
          </a:p>
        </p:txBody>
      </p:sp>
      <p:sp>
        <p:nvSpPr>
          <p:cNvPr id="7" name="Text 5"/>
          <p:cNvSpPr/>
          <p:nvPr/>
        </p:nvSpPr>
        <p:spPr>
          <a:xfrm>
            <a:off x="182880" y="749808"/>
            <a:ext cx="2834640" cy="347472"/>
          </a:xfrm>
          <a:prstGeom prst="rect">
            <a:avLst/>
          </a:prstGeom>
          <a:noFill/>
          <a:ln/>
        </p:spPr>
        <p:txBody>
          <a:bodyPr wrap="square" lIns="0" tIns="0" rIns="0" bIns="0" rtlCol="0" anchor="ctr"/>
          <a:lstStyle/>
          <a:p>
            <a:pPr marL="0" indent="0" algn="ctr">
              <a:buNone/>
            </a:pPr>
            <a:r>
              <a:rPr lang="en-US" sz="1200" b="1" dirty="0">
                <a:solidFill>
                  <a:srgbClr val="FFFFFF"/>
                </a:solidFill>
              </a:rPr>
              <a:t>📈  REGRESSION</a:t>
            </a:r>
            <a:endParaRPr lang="en-US" sz="1200" dirty="0"/>
          </a:p>
        </p:txBody>
      </p:sp>
      <p:sp>
        <p:nvSpPr>
          <p:cNvPr id="8" name="Shape 6"/>
          <p:cNvSpPr/>
          <p:nvPr/>
        </p:nvSpPr>
        <p:spPr>
          <a:xfrm>
            <a:off x="182880" y="1097280"/>
            <a:ext cx="2834640" cy="2286000"/>
          </a:xfrm>
          <a:prstGeom prst="rect">
            <a:avLst/>
          </a:prstGeom>
          <a:solidFill>
            <a:srgbClr val="D1FAE5"/>
          </a:solidFill>
          <a:ln/>
        </p:spPr>
        <p:txBody>
          <a:bodyPr/>
          <a:lstStyle/>
          <a:p>
            <a:endParaRPr lang="en-US"/>
          </a:p>
        </p:txBody>
      </p:sp>
      <p:sp>
        <p:nvSpPr>
          <p:cNvPr id="9" name="Text 7"/>
          <p:cNvSpPr/>
          <p:nvPr/>
        </p:nvSpPr>
        <p:spPr>
          <a:xfrm>
            <a:off x="274320" y="1143000"/>
            <a:ext cx="2651760" cy="274320"/>
          </a:xfrm>
          <a:prstGeom prst="rect">
            <a:avLst/>
          </a:prstGeom>
          <a:noFill/>
          <a:ln/>
        </p:spPr>
        <p:txBody>
          <a:bodyPr wrap="square" lIns="0" tIns="0" rIns="0" bIns="0" rtlCol="0" anchor="ctr"/>
          <a:lstStyle/>
          <a:p>
            <a:pPr marL="0" indent="0">
              <a:buNone/>
            </a:pPr>
            <a:r>
              <a:rPr lang="en-US" sz="1000" b="1" dirty="0">
                <a:solidFill>
                  <a:srgbClr val="1E5631"/>
                </a:solidFill>
              </a:rPr>
              <a:t>What does it predict?</a:t>
            </a:r>
            <a:endParaRPr lang="en-US" sz="1000" dirty="0"/>
          </a:p>
        </p:txBody>
      </p:sp>
      <p:sp>
        <p:nvSpPr>
          <p:cNvPr id="10" name="Text 8"/>
          <p:cNvSpPr/>
          <p:nvPr/>
        </p:nvSpPr>
        <p:spPr>
          <a:xfrm>
            <a:off x="274320" y="1463040"/>
            <a:ext cx="2651760" cy="1280160"/>
          </a:xfrm>
          <a:prstGeom prst="rect">
            <a:avLst/>
          </a:prstGeom>
          <a:noFill/>
          <a:ln/>
        </p:spPr>
        <p:txBody>
          <a:bodyPr wrap="square" lIns="0" tIns="0" rIns="0" bIns="0" rtlCol="0" anchor="ctr"/>
          <a:lstStyle/>
          <a:p>
            <a:endParaRPr lang="en-US" sz="1000" dirty="0">
              <a:solidFill>
                <a:srgbClr val="1E293B"/>
              </a:solidFill>
              <a:ea typeface="Calibri"/>
              <a:cs typeface="Calibri"/>
            </a:endParaRPr>
          </a:p>
          <a:p>
            <a:endParaRPr lang="en-US" sz="1000" dirty="0">
              <a:solidFill>
                <a:srgbClr val="1E293B"/>
              </a:solidFill>
              <a:ea typeface="Calibri"/>
              <a:cs typeface="Calibri"/>
            </a:endParaRPr>
          </a:p>
          <a:p>
            <a:r>
              <a:rPr lang="en-US" sz="1000">
                <a:solidFill>
                  <a:srgbClr val="1E293B"/>
                </a:solidFill>
                <a:ea typeface="Calibri"/>
                <a:cs typeface="Calibri"/>
              </a:rPr>
              <a:t>kWh demand by hour for each building type. Based on hour of day, season, temperature, and day of week</a:t>
            </a:r>
            <a:endParaRPr lang="en-US" sz="1000" dirty="0">
              <a:solidFill>
                <a:srgbClr val="1E293B"/>
              </a:solidFill>
              <a:ea typeface="Calibri"/>
              <a:cs typeface="Calibri"/>
            </a:endParaRPr>
          </a:p>
        </p:txBody>
      </p:sp>
      <p:sp>
        <p:nvSpPr>
          <p:cNvPr id="11" name="Shape 9"/>
          <p:cNvSpPr/>
          <p:nvPr/>
        </p:nvSpPr>
        <p:spPr>
          <a:xfrm>
            <a:off x="182880" y="3383280"/>
            <a:ext cx="2834640" cy="594360"/>
          </a:xfrm>
          <a:prstGeom prst="rect">
            <a:avLst/>
          </a:prstGeom>
          <a:solidFill>
            <a:srgbClr val="1E5631">
              <a:alpha val="12000"/>
            </a:srgbClr>
          </a:solidFill>
          <a:ln/>
        </p:spPr>
        <p:txBody>
          <a:bodyPr/>
          <a:lstStyle/>
          <a:p>
            <a:endParaRPr lang="en-US"/>
          </a:p>
        </p:txBody>
      </p:sp>
      <p:sp>
        <p:nvSpPr>
          <p:cNvPr id="12" name="Text 10"/>
          <p:cNvSpPr/>
          <p:nvPr/>
        </p:nvSpPr>
        <p:spPr>
          <a:xfrm>
            <a:off x="256032" y="3410712"/>
            <a:ext cx="2688336" cy="274320"/>
          </a:xfrm>
          <a:prstGeom prst="rect">
            <a:avLst/>
          </a:prstGeom>
          <a:noFill/>
          <a:ln/>
        </p:spPr>
        <p:txBody>
          <a:bodyPr wrap="square" lIns="0" tIns="0" rIns="0" bIns="0" rtlCol="0" anchor="ctr"/>
          <a:lstStyle/>
          <a:p>
            <a:r>
              <a:rPr lang="en-US" sz="900" b="1">
                <a:solidFill>
                  <a:srgbClr val="1E5631"/>
                </a:solidFill>
              </a:rPr>
              <a:t>R² = 0.958 | MAE = 25.8 kWh</a:t>
            </a:r>
            <a:endParaRPr lang="en-US" sz="900"/>
          </a:p>
        </p:txBody>
      </p:sp>
      <p:sp>
        <p:nvSpPr>
          <p:cNvPr id="13" name="Text 11"/>
          <p:cNvSpPr/>
          <p:nvPr/>
        </p:nvSpPr>
        <p:spPr>
          <a:xfrm>
            <a:off x="256032" y="3685032"/>
            <a:ext cx="2688336" cy="228600"/>
          </a:xfrm>
          <a:prstGeom prst="rect">
            <a:avLst/>
          </a:prstGeom>
          <a:noFill/>
          <a:ln/>
        </p:spPr>
        <p:txBody>
          <a:bodyPr wrap="square" lIns="0" tIns="0" rIns="0" bIns="0" rtlCol="0" anchor="ctr"/>
          <a:lstStyle/>
          <a:p>
            <a:pPr marL="0" indent="0">
              <a:buNone/>
            </a:pPr>
            <a:r>
              <a:rPr lang="en-US" sz="800" i="1" dirty="0">
                <a:solidFill>
                  <a:srgbClr val="1E5631"/>
                </a:solidFill>
              </a:rPr>
              <a:t>Week 2 teams: add your actual results</a:t>
            </a:r>
            <a:endParaRPr lang="en-US" sz="800" dirty="0"/>
          </a:p>
        </p:txBody>
      </p:sp>
      <p:sp>
        <p:nvSpPr>
          <p:cNvPr id="14" name="Shape 12"/>
          <p:cNvSpPr/>
          <p:nvPr/>
        </p:nvSpPr>
        <p:spPr>
          <a:xfrm>
            <a:off x="3172968" y="749808"/>
            <a:ext cx="2834640" cy="347472"/>
          </a:xfrm>
          <a:prstGeom prst="rect">
            <a:avLst/>
          </a:prstGeom>
          <a:solidFill>
            <a:srgbClr val="B45309"/>
          </a:solidFill>
          <a:ln/>
        </p:spPr>
        <p:txBody>
          <a:bodyPr/>
          <a:lstStyle/>
          <a:p>
            <a:endParaRPr lang="en-US"/>
          </a:p>
        </p:txBody>
      </p:sp>
      <p:sp>
        <p:nvSpPr>
          <p:cNvPr id="15" name="Text 13"/>
          <p:cNvSpPr/>
          <p:nvPr/>
        </p:nvSpPr>
        <p:spPr>
          <a:xfrm>
            <a:off x="3172968" y="749808"/>
            <a:ext cx="2834640" cy="347472"/>
          </a:xfrm>
          <a:prstGeom prst="rect">
            <a:avLst/>
          </a:prstGeom>
          <a:noFill/>
          <a:ln/>
        </p:spPr>
        <p:txBody>
          <a:bodyPr wrap="square" lIns="0" tIns="0" rIns="0" bIns="0" rtlCol="0" anchor="ctr"/>
          <a:lstStyle/>
          <a:p>
            <a:pPr marL="0" indent="0" algn="ctr">
              <a:buNone/>
            </a:pPr>
            <a:r>
              <a:rPr lang="en-US" sz="1200" b="1" dirty="0">
                <a:solidFill>
                  <a:srgbClr val="FFFFFF"/>
                </a:solidFill>
              </a:rPr>
              <a:t>🏷️  CLASSIFICATION</a:t>
            </a:r>
            <a:endParaRPr lang="en-US" sz="1200" dirty="0"/>
          </a:p>
        </p:txBody>
      </p:sp>
      <p:sp>
        <p:nvSpPr>
          <p:cNvPr id="16" name="Shape 14"/>
          <p:cNvSpPr/>
          <p:nvPr/>
        </p:nvSpPr>
        <p:spPr>
          <a:xfrm>
            <a:off x="3172968" y="1097280"/>
            <a:ext cx="2834640" cy="2286000"/>
          </a:xfrm>
          <a:prstGeom prst="rect">
            <a:avLst/>
          </a:prstGeom>
          <a:solidFill>
            <a:srgbClr val="FEF3C7"/>
          </a:solidFill>
          <a:ln/>
        </p:spPr>
        <p:txBody>
          <a:bodyPr/>
          <a:lstStyle/>
          <a:p>
            <a:endParaRPr lang="en-US"/>
          </a:p>
        </p:txBody>
      </p:sp>
      <p:sp>
        <p:nvSpPr>
          <p:cNvPr id="17" name="Text 15"/>
          <p:cNvSpPr/>
          <p:nvPr/>
        </p:nvSpPr>
        <p:spPr>
          <a:xfrm>
            <a:off x="3264408" y="1143000"/>
            <a:ext cx="2651760" cy="274320"/>
          </a:xfrm>
          <a:prstGeom prst="rect">
            <a:avLst/>
          </a:prstGeom>
          <a:noFill/>
          <a:ln/>
        </p:spPr>
        <p:txBody>
          <a:bodyPr wrap="square" lIns="0" tIns="0" rIns="0" bIns="0" rtlCol="0" anchor="ctr"/>
          <a:lstStyle/>
          <a:p>
            <a:pPr marL="0" indent="0">
              <a:buNone/>
            </a:pPr>
            <a:r>
              <a:rPr lang="en-US" sz="1000" b="1" dirty="0">
                <a:solidFill>
                  <a:srgbClr val="B45309"/>
                </a:solidFill>
              </a:rPr>
              <a:t>What does it decide?</a:t>
            </a:r>
            <a:endParaRPr lang="en-US" sz="1000" dirty="0"/>
          </a:p>
        </p:txBody>
      </p:sp>
      <p:sp>
        <p:nvSpPr>
          <p:cNvPr id="18" name="Text 16"/>
          <p:cNvSpPr/>
          <p:nvPr/>
        </p:nvSpPr>
        <p:spPr>
          <a:xfrm>
            <a:off x="3264408" y="1463040"/>
            <a:ext cx="2651760" cy="1280160"/>
          </a:xfrm>
          <a:prstGeom prst="rect">
            <a:avLst/>
          </a:prstGeom>
          <a:noFill/>
          <a:ln/>
        </p:spPr>
        <p:txBody>
          <a:bodyPr wrap="square" lIns="0" tIns="0" rIns="0" bIns="0" rtlCol="0" anchor="ctr"/>
          <a:lstStyle/>
          <a:p>
            <a:endParaRPr lang="en-US" sz="1000" dirty="0">
              <a:solidFill>
                <a:srgbClr val="1E293B"/>
              </a:solidFill>
              <a:ea typeface="Calibri"/>
              <a:cs typeface="Calibri"/>
            </a:endParaRPr>
          </a:p>
          <a:p>
            <a:endParaRPr lang="en-US" sz="1000" dirty="0">
              <a:solidFill>
                <a:srgbClr val="1E293B"/>
              </a:solidFill>
              <a:ea typeface="Calibri"/>
              <a:cs typeface="Calibri"/>
            </a:endParaRPr>
          </a:p>
          <a:p>
            <a:r>
              <a:rPr lang="en-US" sz="1000" dirty="0">
                <a:solidFill>
                  <a:srgbClr val="1E293B"/>
                </a:solidFill>
                <a:ea typeface="Calibri"/>
                <a:cs typeface="Calibri"/>
              </a:rPr>
              <a:t>What classification tier each building belongs to. Either Critical, Flexible, or Non-Critical, decided </a:t>
            </a:r>
            <a:r>
              <a:rPr lang="en-US" sz="1000">
                <a:solidFill>
                  <a:srgbClr val="1E293B"/>
                </a:solidFill>
                <a:ea typeface="Calibri"/>
                <a:cs typeface="Calibri"/>
              </a:rPr>
              <a:t>based on energy consumption trends.</a:t>
            </a:r>
            <a:endParaRPr lang="en-US" sz="1000" dirty="0">
              <a:solidFill>
                <a:srgbClr val="1E293B"/>
              </a:solidFill>
              <a:ea typeface="Calibri"/>
              <a:cs typeface="Calibri"/>
            </a:endParaRPr>
          </a:p>
        </p:txBody>
      </p:sp>
      <p:sp>
        <p:nvSpPr>
          <p:cNvPr id="19" name="Shape 17"/>
          <p:cNvSpPr/>
          <p:nvPr/>
        </p:nvSpPr>
        <p:spPr>
          <a:xfrm>
            <a:off x="3172968" y="3383280"/>
            <a:ext cx="2834640" cy="594360"/>
          </a:xfrm>
          <a:prstGeom prst="rect">
            <a:avLst/>
          </a:prstGeom>
          <a:solidFill>
            <a:srgbClr val="B45309">
              <a:alpha val="12000"/>
            </a:srgbClr>
          </a:solidFill>
          <a:ln/>
        </p:spPr>
        <p:txBody>
          <a:bodyPr/>
          <a:lstStyle/>
          <a:p>
            <a:endParaRPr lang="en-US"/>
          </a:p>
        </p:txBody>
      </p:sp>
      <p:sp>
        <p:nvSpPr>
          <p:cNvPr id="20" name="Text 18"/>
          <p:cNvSpPr/>
          <p:nvPr/>
        </p:nvSpPr>
        <p:spPr>
          <a:xfrm>
            <a:off x="3246120" y="3410712"/>
            <a:ext cx="2688336" cy="274320"/>
          </a:xfrm>
          <a:prstGeom prst="rect">
            <a:avLst/>
          </a:prstGeom>
          <a:noFill/>
          <a:ln/>
        </p:spPr>
        <p:txBody>
          <a:bodyPr wrap="square" lIns="0" tIns="0" rIns="0" bIns="0" rtlCol="0" anchor="ctr"/>
          <a:lstStyle/>
          <a:p>
            <a:r>
              <a:rPr lang="en-US" sz="900" b="1">
                <a:solidFill>
                  <a:srgbClr val="B45309"/>
                </a:solidFill>
              </a:rPr>
              <a:t>Accuracy = 94.2% | Critical recall = 100%</a:t>
            </a:r>
            <a:endParaRPr lang="en-US" sz="900"/>
          </a:p>
        </p:txBody>
      </p:sp>
      <p:sp>
        <p:nvSpPr>
          <p:cNvPr id="21" name="Text 19"/>
          <p:cNvSpPr/>
          <p:nvPr/>
        </p:nvSpPr>
        <p:spPr>
          <a:xfrm>
            <a:off x="3246120" y="3685032"/>
            <a:ext cx="2688336" cy="228600"/>
          </a:xfrm>
          <a:prstGeom prst="rect">
            <a:avLst/>
          </a:prstGeom>
          <a:noFill/>
          <a:ln/>
        </p:spPr>
        <p:txBody>
          <a:bodyPr wrap="square" lIns="0" tIns="0" rIns="0" bIns="0" rtlCol="0" anchor="ctr"/>
          <a:lstStyle/>
          <a:p>
            <a:pPr marL="0" indent="0">
              <a:buNone/>
            </a:pPr>
            <a:r>
              <a:rPr lang="en-US" sz="800" i="1" dirty="0">
                <a:solidFill>
                  <a:srgbClr val="B45309"/>
                </a:solidFill>
              </a:rPr>
              <a:t>Week 2 teams: add your confusion matrix results</a:t>
            </a:r>
            <a:endParaRPr lang="en-US" sz="800" dirty="0"/>
          </a:p>
        </p:txBody>
      </p:sp>
      <p:sp>
        <p:nvSpPr>
          <p:cNvPr id="22" name="Shape 20"/>
          <p:cNvSpPr/>
          <p:nvPr/>
        </p:nvSpPr>
        <p:spPr>
          <a:xfrm>
            <a:off x="6163056" y="749808"/>
            <a:ext cx="2834640" cy="347472"/>
          </a:xfrm>
          <a:prstGeom prst="rect">
            <a:avLst/>
          </a:prstGeom>
          <a:solidFill>
            <a:srgbClr val="991B1B"/>
          </a:solidFill>
          <a:ln/>
        </p:spPr>
        <p:txBody>
          <a:bodyPr/>
          <a:lstStyle/>
          <a:p>
            <a:endParaRPr lang="en-US"/>
          </a:p>
        </p:txBody>
      </p:sp>
      <p:sp>
        <p:nvSpPr>
          <p:cNvPr id="23" name="Text 21"/>
          <p:cNvSpPr/>
          <p:nvPr/>
        </p:nvSpPr>
        <p:spPr>
          <a:xfrm>
            <a:off x="6163056" y="749808"/>
            <a:ext cx="2834640" cy="347472"/>
          </a:xfrm>
          <a:prstGeom prst="rect">
            <a:avLst/>
          </a:prstGeom>
          <a:noFill/>
          <a:ln/>
        </p:spPr>
        <p:txBody>
          <a:bodyPr wrap="square" lIns="0" tIns="0" rIns="0" bIns="0" rtlCol="0" anchor="ctr"/>
          <a:lstStyle/>
          <a:p>
            <a:pPr marL="0" indent="0" algn="ctr">
              <a:buNone/>
            </a:pPr>
            <a:r>
              <a:rPr lang="en-US" sz="1200" b="1" dirty="0">
                <a:solidFill>
                  <a:srgbClr val="FFFFFF"/>
                </a:solidFill>
              </a:rPr>
              <a:t>⚡  OPTIMIZATION</a:t>
            </a:r>
            <a:endParaRPr lang="en-US" sz="1200" dirty="0"/>
          </a:p>
        </p:txBody>
      </p:sp>
      <p:sp>
        <p:nvSpPr>
          <p:cNvPr id="24" name="Shape 22"/>
          <p:cNvSpPr/>
          <p:nvPr/>
        </p:nvSpPr>
        <p:spPr>
          <a:xfrm>
            <a:off x="6163056" y="1097280"/>
            <a:ext cx="2834640" cy="2286000"/>
          </a:xfrm>
          <a:prstGeom prst="rect">
            <a:avLst/>
          </a:prstGeom>
          <a:solidFill>
            <a:srgbClr val="FEE2E2"/>
          </a:solidFill>
          <a:ln/>
        </p:spPr>
        <p:txBody>
          <a:bodyPr/>
          <a:lstStyle/>
          <a:p>
            <a:endParaRPr lang="en-US"/>
          </a:p>
        </p:txBody>
      </p:sp>
      <p:sp>
        <p:nvSpPr>
          <p:cNvPr id="25" name="Text 23"/>
          <p:cNvSpPr/>
          <p:nvPr/>
        </p:nvSpPr>
        <p:spPr>
          <a:xfrm>
            <a:off x="6254496" y="1143000"/>
            <a:ext cx="2651760" cy="274320"/>
          </a:xfrm>
          <a:prstGeom prst="rect">
            <a:avLst/>
          </a:prstGeom>
          <a:noFill/>
          <a:ln/>
        </p:spPr>
        <p:txBody>
          <a:bodyPr wrap="square" lIns="0" tIns="0" rIns="0" bIns="0" rtlCol="0" anchor="ctr"/>
          <a:lstStyle/>
          <a:p>
            <a:pPr marL="0" indent="0">
              <a:buNone/>
            </a:pPr>
            <a:r>
              <a:rPr lang="en-US" sz="1000" b="1" dirty="0">
                <a:solidFill>
                  <a:srgbClr val="991B1B"/>
                </a:solidFill>
              </a:rPr>
              <a:t>What does it optimize?</a:t>
            </a:r>
            <a:endParaRPr lang="en-US" sz="1000" dirty="0"/>
          </a:p>
        </p:txBody>
      </p:sp>
      <p:sp>
        <p:nvSpPr>
          <p:cNvPr id="26" name="Text 24"/>
          <p:cNvSpPr/>
          <p:nvPr/>
        </p:nvSpPr>
        <p:spPr>
          <a:xfrm>
            <a:off x="6254496" y="1463040"/>
            <a:ext cx="2651760" cy="1280160"/>
          </a:xfrm>
          <a:prstGeom prst="rect">
            <a:avLst/>
          </a:prstGeom>
          <a:noFill/>
          <a:ln/>
        </p:spPr>
        <p:txBody>
          <a:bodyPr wrap="square" lIns="0" tIns="0" rIns="0" bIns="0" rtlCol="0" anchor="ctr"/>
          <a:lstStyle/>
          <a:p>
            <a:endParaRPr lang="en-US" sz="1000" dirty="0">
              <a:solidFill>
                <a:srgbClr val="1E293B"/>
              </a:solidFill>
              <a:ea typeface="Calibri"/>
              <a:cs typeface="Calibri"/>
            </a:endParaRPr>
          </a:p>
          <a:p>
            <a:r>
              <a:rPr lang="en-US" sz="1000">
                <a:solidFill>
                  <a:srgbClr val="1E293B"/>
                </a:solidFill>
                <a:ea typeface="Calibri"/>
                <a:cs typeface="Calibri"/>
              </a:rPr>
              <a:t>Power distribution based on type of emergency </a:t>
            </a:r>
            <a:r>
              <a:rPr lang="en-US" sz="1000" dirty="0">
                <a:solidFill>
                  <a:srgbClr val="1E293B"/>
                </a:solidFill>
                <a:ea typeface="Calibri"/>
                <a:cs typeface="Calibri"/>
              </a:rPr>
              <a:t>and current </a:t>
            </a:r>
            <a:r>
              <a:rPr lang="en-US" sz="1000">
                <a:solidFill>
                  <a:srgbClr val="1E293B"/>
                </a:solidFill>
                <a:ea typeface="Calibri"/>
                <a:cs typeface="Calibri"/>
              </a:rPr>
              <a:t>real-world</a:t>
            </a:r>
            <a:r>
              <a:rPr lang="en-US" sz="1000" dirty="0">
                <a:solidFill>
                  <a:srgbClr val="1E293B"/>
                </a:solidFill>
                <a:ea typeface="Calibri"/>
                <a:cs typeface="Calibri"/>
              </a:rPr>
              <a:t> factors, along with human input.</a:t>
            </a:r>
            <a:endParaRPr lang="en-US"/>
          </a:p>
        </p:txBody>
      </p:sp>
      <p:sp>
        <p:nvSpPr>
          <p:cNvPr id="27" name="Shape 25"/>
          <p:cNvSpPr/>
          <p:nvPr/>
        </p:nvSpPr>
        <p:spPr>
          <a:xfrm>
            <a:off x="6163056" y="3383280"/>
            <a:ext cx="2834640" cy="594360"/>
          </a:xfrm>
          <a:prstGeom prst="rect">
            <a:avLst/>
          </a:prstGeom>
          <a:solidFill>
            <a:srgbClr val="991B1B">
              <a:alpha val="12000"/>
            </a:srgbClr>
          </a:solidFill>
          <a:ln/>
        </p:spPr>
        <p:txBody>
          <a:bodyPr lIns="91440" tIns="45720" rIns="91440" bIns="45720" anchor="t"/>
          <a:lstStyle/>
          <a:p>
            <a:endParaRPr lang="en-US" dirty="0">
              <a:ea typeface="Calibri"/>
              <a:cs typeface="Calibri"/>
            </a:endParaRPr>
          </a:p>
        </p:txBody>
      </p:sp>
      <p:sp>
        <p:nvSpPr>
          <p:cNvPr id="28" name="Text 26"/>
          <p:cNvSpPr/>
          <p:nvPr/>
        </p:nvSpPr>
        <p:spPr>
          <a:xfrm>
            <a:off x="6236208" y="3410712"/>
            <a:ext cx="2688336" cy="274320"/>
          </a:xfrm>
          <a:prstGeom prst="rect">
            <a:avLst/>
          </a:prstGeom>
          <a:noFill/>
          <a:ln/>
        </p:spPr>
        <p:txBody>
          <a:bodyPr wrap="square" lIns="0" tIns="0" rIns="0" bIns="0" rtlCol="0" anchor="ctr"/>
          <a:lstStyle/>
          <a:p>
            <a:r>
              <a:rPr lang="en-US" sz="900" b="1">
                <a:solidFill>
                  <a:srgbClr val="991B1B"/>
                </a:solidFill>
                <a:ea typeface="Calibri"/>
                <a:cs typeface="Calibri"/>
              </a:rPr>
              <a:t>Implements human input and </a:t>
            </a:r>
            <a:r>
              <a:rPr lang="en-US" sz="900" b="1" dirty="0">
                <a:solidFill>
                  <a:srgbClr val="991B1B"/>
                </a:solidFill>
                <a:ea typeface="Calibri"/>
                <a:cs typeface="Calibri"/>
              </a:rPr>
              <a:t>real-world data</a:t>
            </a:r>
          </a:p>
        </p:txBody>
      </p:sp>
      <p:sp>
        <p:nvSpPr>
          <p:cNvPr id="29" name="Text 27"/>
          <p:cNvSpPr/>
          <p:nvPr/>
        </p:nvSpPr>
        <p:spPr>
          <a:xfrm>
            <a:off x="6236208" y="3685032"/>
            <a:ext cx="2688336" cy="228600"/>
          </a:xfrm>
          <a:prstGeom prst="rect">
            <a:avLst/>
          </a:prstGeom>
          <a:noFill/>
          <a:ln/>
        </p:spPr>
        <p:txBody>
          <a:bodyPr wrap="square" lIns="0" tIns="0" rIns="0" bIns="0" rtlCol="0" anchor="ctr"/>
          <a:lstStyle/>
          <a:p>
            <a:pPr marL="0" indent="0">
              <a:buNone/>
            </a:pPr>
            <a:r>
              <a:rPr lang="en-US" sz="800" i="1" dirty="0">
                <a:solidFill>
                  <a:srgbClr val="991B1B"/>
                </a:solidFill>
              </a:rPr>
              <a:t>All teams: describe conceptually</a:t>
            </a:r>
            <a:endParaRPr lang="en-US" sz="800" dirty="0"/>
          </a:p>
        </p:txBody>
      </p:sp>
      <p:sp>
        <p:nvSpPr>
          <p:cNvPr id="30" name="Text 28"/>
          <p:cNvSpPr/>
          <p:nvPr/>
        </p:nvSpPr>
        <p:spPr>
          <a:xfrm>
            <a:off x="0" y="4887468"/>
            <a:ext cx="9144000" cy="256032"/>
          </a:xfrm>
          <a:prstGeom prst="rect">
            <a:avLst/>
          </a:prstGeom>
          <a:noFill/>
          <a:ln/>
        </p:spPr>
        <p:txBody>
          <a:bodyPr wrap="square" lIns="91440" tIns="45720" rIns="91440" bIns="45720" rtlCol="0" anchor="ctr"/>
          <a:lstStyle/>
          <a:p>
            <a:pPr algn="ctr"/>
            <a:r>
              <a:rPr lang="en-US" sz="800" i="1">
                <a:solidFill>
                  <a:srgbClr val="64748B"/>
                </a:solidFill>
              </a:rPr>
              <a:t>Smart City AI Design Challenge  · James Mitchell  ·  May 2025</a:t>
            </a:r>
            <a:endParaRPr lang="en-US" sz="800"/>
          </a:p>
        </p:txBody>
      </p:sp>
      <p:sp>
        <p:nvSpPr>
          <p:cNvPr id="31" name="Text 29"/>
          <p:cNvSpPr/>
          <p:nvPr/>
        </p:nvSpPr>
        <p:spPr>
          <a:xfrm>
            <a:off x="8595360" y="4869180"/>
            <a:ext cx="457200" cy="228600"/>
          </a:xfrm>
          <a:prstGeom prst="rect">
            <a:avLst/>
          </a:prstGeom>
          <a:noFill/>
          <a:ln/>
        </p:spPr>
        <p:txBody>
          <a:bodyPr wrap="square" lIns="91440" tIns="45720" rIns="91440" bIns="45720" rtlCol="0" anchor="ctr"/>
          <a:lstStyle/>
          <a:p>
            <a:pPr marL="0" indent="0" algn="r">
              <a:buNone/>
            </a:pPr>
            <a:r>
              <a:rPr lang="en-US" sz="800">
                <a:solidFill>
                  <a:srgbClr val="64748B"/>
                </a:solidFill>
              </a:rPr>
              <a:t>4 / 9</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C7293"/>
          </a:solidFill>
          <a:ln/>
        </p:spPr>
        <p:txBody>
          <a:bodyPr/>
          <a:lstStyle/>
          <a:p>
            <a:endParaRPr lang="en-US"/>
          </a:p>
        </p:txBody>
      </p:sp>
      <p:sp>
        <p:nvSpPr>
          <p:cNvPr id="3" name="Text 1"/>
          <p:cNvSpPr/>
          <p:nvPr/>
        </p:nvSpPr>
        <p:spPr>
          <a:xfrm>
            <a:off x="365760" y="0"/>
            <a:ext cx="6858000" cy="640080"/>
          </a:xfrm>
          <a:prstGeom prst="rect">
            <a:avLst/>
          </a:prstGeom>
          <a:noFill/>
          <a:ln/>
        </p:spPr>
        <p:txBody>
          <a:bodyPr wrap="square" rtlCol="0" anchor="ctr"/>
          <a:lstStyle/>
          <a:p>
            <a:pPr marL="0" indent="0">
              <a:buNone/>
            </a:pPr>
            <a:r>
              <a:rPr lang="en-US" sz="2200" b="1" dirty="0">
                <a:solidFill>
                  <a:srgbClr val="FFFFFF"/>
                </a:solidFill>
              </a:rPr>
              <a:t>Part 4: Our Evidence — Visualization 1</a:t>
            </a:r>
            <a:endParaRPr lang="en-US" sz="2200" dirty="0"/>
          </a:p>
        </p:txBody>
      </p:sp>
      <p:sp>
        <p:nvSpPr>
          <p:cNvPr id="4" name="Shape 2"/>
          <p:cNvSpPr/>
          <p:nvPr/>
        </p:nvSpPr>
        <p:spPr>
          <a:xfrm>
            <a:off x="7498080" y="182880"/>
            <a:ext cx="1463040" cy="256032"/>
          </a:xfrm>
          <a:prstGeom prst="roundRect">
            <a:avLst>
              <a:gd name="adj" fmla="val 17857"/>
            </a:avLst>
          </a:prstGeom>
          <a:solidFill>
            <a:srgbClr val="00B4D8"/>
          </a:solidFill>
          <a:ln/>
        </p:spPr>
        <p:txBody>
          <a:bodyPr/>
          <a:lstStyle/>
          <a:p>
            <a:endParaRPr lang="en-US"/>
          </a:p>
        </p:txBody>
      </p:sp>
      <p:sp>
        <p:nvSpPr>
          <p:cNvPr id="5" name="Text 3"/>
          <p:cNvSpPr/>
          <p:nvPr/>
        </p:nvSpPr>
        <p:spPr>
          <a:xfrm>
            <a:off x="7498080" y="182880"/>
            <a:ext cx="1463040" cy="256032"/>
          </a:xfrm>
          <a:prstGeom prst="rect">
            <a:avLst/>
          </a:prstGeom>
          <a:noFill/>
          <a:ln/>
        </p:spPr>
        <p:txBody>
          <a:bodyPr wrap="square" lIns="0" tIns="0" rIns="0" bIns="0" rtlCol="0" anchor="ctr"/>
          <a:lstStyle/>
          <a:p>
            <a:pPr marL="0" indent="0" algn="ctr">
              <a:buNone/>
            </a:pPr>
            <a:r>
              <a:rPr lang="en-US" sz="900" b="1">
                <a:solidFill>
                  <a:srgbClr val="065A82"/>
                </a:solidFill>
              </a:rPr>
              <a:t>SLIDE 5 OF 9</a:t>
            </a:r>
            <a:endParaRPr lang="en-US" sz="900"/>
          </a:p>
        </p:txBody>
      </p:sp>
      <p:sp>
        <p:nvSpPr>
          <p:cNvPr id="6" name="Shape 4"/>
          <p:cNvSpPr/>
          <p:nvPr/>
        </p:nvSpPr>
        <p:spPr>
          <a:xfrm>
            <a:off x="274320" y="749808"/>
            <a:ext cx="8595360" cy="457200"/>
          </a:xfrm>
          <a:prstGeom prst="rect">
            <a:avLst/>
          </a:prstGeom>
          <a:solidFill>
            <a:srgbClr val="EFF6FF"/>
          </a:solidFill>
          <a:ln/>
        </p:spPr>
        <p:txBody>
          <a:bodyPr/>
          <a:lstStyle/>
          <a:p>
            <a:endParaRPr lang="en-US"/>
          </a:p>
        </p:txBody>
      </p:sp>
      <p:sp>
        <p:nvSpPr>
          <p:cNvPr id="7" name="Text 5"/>
          <p:cNvSpPr/>
          <p:nvPr/>
        </p:nvSpPr>
        <p:spPr>
          <a:xfrm>
            <a:off x="411480" y="786384"/>
            <a:ext cx="8321040" cy="347472"/>
          </a:xfrm>
          <a:prstGeom prst="rect">
            <a:avLst/>
          </a:prstGeom>
          <a:noFill/>
          <a:ln/>
        </p:spPr>
        <p:txBody>
          <a:bodyPr wrap="square" lIns="91440" tIns="45720" rIns="91440" bIns="45720" rtlCol="0" anchor="ctr"/>
          <a:lstStyle/>
          <a:p>
            <a:r>
              <a:rPr lang="en-US" sz="1100" b="1">
                <a:solidFill>
                  <a:srgbClr val="1C7293"/>
                </a:solidFill>
              </a:rPr>
              <a:t>Question this answers: How does power usage vary over time on the daily scale?</a:t>
            </a:r>
            <a:endParaRPr lang="en-US" sz="1100" b="1" dirty="0">
              <a:solidFill>
                <a:srgbClr val="1C7293"/>
              </a:solidFill>
            </a:endParaRPr>
          </a:p>
        </p:txBody>
      </p:sp>
      <p:sp>
        <p:nvSpPr>
          <p:cNvPr id="8" name="Shape 6"/>
          <p:cNvSpPr/>
          <p:nvPr/>
        </p:nvSpPr>
        <p:spPr>
          <a:xfrm>
            <a:off x="274320" y="1298448"/>
            <a:ext cx="5303520" cy="2743200"/>
          </a:xfrm>
          <a:prstGeom prst="rect">
            <a:avLst/>
          </a:prstGeom>
          <a:solidFill>
            <a:srgbClr val="F8FAFC"/>
          </a:solidFill>
          <a:ln w="12700">
            <a:solidFill>
              <a:srgbClr val="CBD5E1"/>
            </a:solidFill>
            <a:prstDash val="dash"/>
          </a:ln>
        </p:spPr>
        <p:txBody>
          <a:bodyPr/>
          <a:lstStyle/>
          <a:p>
            <a:endParaRPr lang="en-US"/>
          </a:p>
        </p:txBody>
      </p:sp>
      <p:sp>
        <p:nvSpPr>
          <p:cNvPr id="9" name="Text 7"/>
          <p:cNvSpPr/>
          <p:nvPr/>
        </p:nvSpPr>
        <p:spPr>
          <a:xfrm>
            <a:off x="274320" y="1298448"/>
            <a:ext cx="5303520" cy="2743200"/>
          </a:xfrm>
          <a:prstGeom prst="rect">
            <a:avLst/>
          </a:prstGeom>
          <a:noFill/>
          <a:ln/>
        </p:spPr>
        <p:txBody>
          <a:bodyPr wrap="square" rtlCol="0" anchor="ctr"/>
          <a:lstStyle/>
          <a:p>
            <a:pPr marL="0" indent="0" algn="ctr">
              <a:buNone/>
            </a:pPr>
            <a:r>
              <a:rPr lang="en-US" sz="1400" i="1" dirty="0">
                <a:solidFill>
                  <a:srgbClr val="94A3B8"/>
                </a:solidFill>
              </a:rPr>
              <a:t>[ PASTE YOUR VISUALIZATION HERE ]</a:t>
            </a:r>
            <a:endParaRPr lang="en-US" sz="1400" dirty="0"/>
          </a:p>
        </p:txBody>
      </p:sp>
      <p:sp>
        <p:nvSpPr>
          <p:cNvPr id="10" name="Shape 8"/>
          <p:cNvSpPr/>
          <p:nvPr/>
        </p:nvSpPr>
        <p:spPr>
          <a:xfrm>
            <a:off x="5669280" y="1854361"/>
            <a:ext cx="3200400" cy="2176897"/>
          </a:xfrm>
          <a:prstGeom prst="rect">
            <a:avLst/>
          </a:prstGeom>
          <a:solidFill>
            <a:srgbClr val="F0FDF4"/>
          </a:solidFill>
          <a:ln/>
        </p:spPr>
        <p:txBody>
          <a:bodyPr/>
          <a:lstStyle/>
          <a:p>
            <a:r>
              <a:rPr lang="en-US" sz="1100" b="0" i="1">
                <a:solidFill>
                  <a:srgbClr val="888888"/>
                </a:solidFill>
                <a:latin typeface="Arial"/>
              </a:rPr>
              <a:t>This diagram plots the power usage of each building at the hospital; it shows a large variance in power usage throughout the day and differences within different days of the week, meaning that it will be crucial to factor in day and time into our model.</a:t>
            </a:r>
            <a:r>
              <a:rPr lang="en-US" sz="1100" b="0" i="0">
                <a:solidFill>
                  <a:srgbClr val="888888"/>
                </a:solidFill>
                <a:latin typeface="Arial"/>
                <a:ea typeface="Arial"/>
                <a:cs typeface="Arial"/>
              </a:rPr>
              <a:t> </a:t>
            </a:r>
            <a:endParaRPr lang="en-US"/>
          </a:p>
        </p:txBody>
      </p:sp>
      <p:sp>
        <p:nvSpPr>
          <p:cNvPr id="11" name="Text 9"/>
          <p:cNvSpPr/>
          <p:nvPr/>
        </p:nvSpPr>
        <p:spPr>
          <a:xfrm>
            <a:off x="5760720" y="1371600"/>
            <a:ext cx="3017520" cy="274320"/>
          </a:xfrm>
          <a:prstGeom prst="rect">
            <a:avLst/>
          </a:prstGeom>
          <a:noFill/>
          <a:ln/>
        </p:spPr>
        <p:txBody>
          <a:bodyPr wrap="square" lIns="0" tIns="0" rIns="0" bIns="0" rtlCol="0" anchor="ctr"/>
          <a:lstStyle/>
          <a:p>
            <a:pPr marL="0" indent="0">
              <a:buNone/>
            </a:pPr>
            <a:r>
              <a:rPr lang="en-US" sz="1100" b="1" dirty="0">
                <a:solidFill>
                  <a:srgbClr val="1E5631"/>
                </a:solidFill>
              </a:rPr>
              <a:t>What this tells us:</a:t>
            </a:r>
            <a:endParaRPr lang="en-US" sz="1100" dirty="0"/>
          </a:p>
        </p:txBody>
      </p:sp>
      <p:sp>
        <p:nvSpPr>
          <p:cNvPr id="12" name="Text 10"/>
          <p:cNvSpPr/>
          <p:nvPr/>
        </p:nvSpPr>
        <p:spPr>
          <a:xfrm>
            <a:off x="5760720" y="1691640"/>
            <a:ext cx="3017520" cy="2194560"/>
          </a:xfrm>
          <a:prstGeom prst="rect">
            <a:avLst/>
          </a:prstGeom>
          <a:noFill/>
          <a:ln/>
        </p:spPr>
        <p:txBody>
          <a:bodyPr wrap="square" lIns="0" tIns="0" rIns="0" bIns="0" rtlCol="0" anchor="ctr"/>
          <a:lstStyle/>
          <a:p>
            <a:pPr marL="0" indent="0">
              <a:buNone/>
            </a:pPr>
            <a:endParaRPr lang="en-US" sz="1100" i="1">
              <a:solidFill>
                <a:srgbClr val="1E293B"/>
              </a:solidFill>
              <a:ea typeface="Calibri"/>
              <a:cs typeface="Calibri"/>
            </a:endParaRPr>
          </a:p>
        </p:txBody>
      </p:sp>
      <p:sp>
        <p:nvSpPr>
          <p:cNvPr id="13" name="Text 11"/>
          <p:cNvSpPr/>
          <p:nvPr/>
        </p:nvSpPr>
        <p:spPr>
          <a:xfrm>
            <a:off x="0" y="4887468"/>
            <a:ext cx="9144000" cy="256032"/>
          </a:xfrm>
          <a:prstGeom prst="rect">
            <a:avLst/>
          </a:prstGeom>
          <a:noFill/>
          <a:ln/>
        </p:spPr>
        <p:txBody>
          <a:bodyPr wrap="square" lIns="91440" tIns="45720" rIns="91440" bIns="45720" rtlCol="0" anchor="ctr"/>
          <a:lstStyle/>
          <a:p>
            <a:pPr algn="ctr"/>
            <a:r>
              <a:rPr lang="en-US" sz="800" i="1">
                <a:solidFill>
                  <a:srgbClr val="64748B"/>
                </a:solidFill>
              </a:rPr>
              <a:t>Smart City AI Design Challenge  · James Mitchell  ·  May 2025</a:t>
            </a:r>
            <a:endParaRPr lang="en-US" sz="800"/>
          </a:p>
        </p:txBody>
      </p:sp>
      <p:sp>
        <p:nvSpPr>
          <p:cNvPr id="14" name="Text 12"/>
          <p:cNvSpPr/>
          <p:nvPr/>
        </p:nvSpPr>
        <p:spPr>
          <a:xfrm>
            <a:off x="8595360" y="4869180"/>
            <a:ext cx="457200" cy="228600"/>
          </a:xfrm>
          <a:prstGeom prst="rect">
            <a:avLst/>
          </a:prstGeom>
          <a:noFill/>
          <a:ln/>
        </p:spPr>
        <p:txBody>
          <a:bodyPr wrap="square" lIns="91440" tIns="45720" rIns="91440" bIns="45720" rtlCol="0" anchor="ctr"/>
          <a:lstStyle/>
          <a:p>
            <a:pPr marL="0" indent="0" algn="r">
              <a:buNone/>
            </a:pPr>
            <a:r>
              <a:rPr lang="en-US" sz="800">
                <a:solidFill>
                  <a:srgbClr val="64748B"/>
                </a:solidFill>
              </a:rPr>
              <a:t>5 / 9</a:t>
            </a:r>
            <a:endParaRPr lang="en-US" sz="800" dirty="0"/>
          </a:p>
        </p:txBody>
      </p:sp>
      <p:pic>
        <p:nvPicPr>
          <p:cNvPr id="15" name="Picture 14">
            <a:extLst>
              <a:ext uri="{FF2B5EF4-FFF2-40B4-BE49-F238E27FC236}">
                <a16:creationId xmlns:a16="http://schemas.microsoft.com/office/drawing/2014/main" id="{9B49E952-0496-FEF6-DD30-333093B80DF7}"/>
              </a:ext>
            </a:extLst>
          </p:cNvPr>
          <p:cNvPicPr>
            <a:picLocks noChangeAspect="1"/>
          </p:cNvPicPr>
          <p:nvPr/>
        </p:nvPicPr>
        <p:blipFill>
          <a:blip r:embed="rId3"/>
          <a:stretch>
            <a:fillRect/>
          </a:stretch>
        </p:blipFill>
        <p:spPr>
          <a:xfrm>
            <a:off x="274718" y="1286435"/>
            <a:ext cx="5306290" cy="273886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C7293"/>
          </a:solidFill>
          <a:ln/>
        </p:spPr>
        <p:txBody>
          <a:bodyPr/>
          <a:lstStyle/>
          <a:p>
            <a:endParaRPr lang="en-US"/>
          </a:p>
        </p:txBody>
      </p:sp>
      <p:sp>
        <p:nvSpPr>
          <p:cNvPr id="3" name="Text 1"/>
          <p:cNvSpPr/>
          <p:nvPr/>
        </p:nvSpPr>
        <p:spPr>
          <a:xfrm>
            <a:off x="365760" y="0"/>
            <a:ext cx="6858000" cy="640080"/>
          </a:xfrm>
          <a:prstGeom prst="rect">
            <a:avLst/>
          </a:prstGeom>
          <a:noFill/>
          <a:ln/>
        </p:spPr>
        <p:txBody>
          <a:bodyPr wrap="square" rtlCol="0" anchor="ctr"/>
          <a:lstStyle/>
          <a:p>
            <a:pPr marL="0" indent="0">
              <a:buNone/>
            </a:pPr>
            <a:r>
              <a:rPr lang="en-US" sz="2200" b="1" dirty="0">
                <a:solidFill>
                  <a:srgbClr val="FFFFFF"/>
                </a:solidFill>
              </a:rPr>
              <a:t>Part 4: Our Evidence — Visualization 2</a:t>
            </a:r>
            <a:endParaRPr lang="en-US" sz="2200" dirty="0"/>
          </a:p>
        </p:txBody>
      </p:sp>
      <p:sp>
        <p:nvSpPr>
          <p:cNvPr id="4" name="Shape 2"/>
          <p:cNvSpPr/>
          <p:nvPr/>
        </p:nvSpPr>
        <p:spPr>
          <a:xfrm>
            <a:off x="7498080" y="182880"/>
            <a:ext cx="1463040" cy="256032"/>
          </a:xfrm>
          <a:prstGeom prst="roundRect">
            <a:avLst>
              <a:gd name="adj" fmla="val 17857"/>
            </a:avLst>
          </a:prstGeom>
          <a:solidFill>
            <a:srgbClr val="00B4D8"/>
          </a:solidFill>
          <a:ln/>
        </p:spPr>
        <p:txBody>
          <a:bodyPr/>
          <a:lstStyle/>
          <a:p>
            <a:endParaRPr lang="en-US"/>
          </a:p>
        </p:txBody>
      </p:sp>
      <p:sp>
        <p:nvSpPr>
          <p:cNvPr id="5" name="Text 3"/>
          <p:cNvSpPr/>
          <p:nvPr/>
        </p:nvSpPr>
        <p:spPr>
          <a:xfrm>
            <a:off x="7498080" y="182880"/>
            <a:ext cx="1463040" cy="256032"/>
          </a:xfrm>
          <a:prstGeom prst="rect">
            <a:avLst/>
          </a:prstGeom>
          <a:noFill/>
          <a:ln/>
        </p:spPr>
        <p:txBody>
          <a:bodyPr wrap="square" lIns="0" tIns="0" rIns="0" bIns="0" rtlCol="0" anchor="ctr"/>
          <a:lstStyle/>
          <a:p>
            <a:pPr marL="0" indent="0" algn="ctr">
              <a:buNone/>
            </a:pPr>
            <a:r>
              <a:rPr lang="en-US" sz="900" b="1">
                <a:solidFill>
                  <a:srgbClr val="065A82"/>
                </a:solidFill>
              </a:rPr>
              <a:t>SLIDE 6 OF 9</a:t>
            </a:r>
            <a:endParaRPr lang="en-US" sz="900" dirty="0"/>
          </a:p>
        </p:txBody>
      </p:sp>
      <p:sp>
        <p:nvSpPr>
          <p:cNvPr id="6" name="Shape 4"/>
          <p:cNvSpPr/>
          <p:nvPr/>
        </p:nvSpPr>
        <p:spPr>
          <a:xfrm>
            <a:off x="5943600" y="182880"/>
            <a:ext cx="1463040" cy="256032"/>
          </a:xfrm>
          <a:prstGeom prst="roundRect">
            <a:avLst>
              <a:gd name="adj" fmla="val 17857"/>
            </a:avLst>
          </a:prstGeom>
          <a:solidFill>
            <a:srgbClr val="B45309"/>
          </a:solidFill>
          <a:ln/>
        </p:spPr>
        <p:txBody>
          <a:bodyPr/>
          <a:lstStyle/>
          <a:p>
            <a:endParaRPr lang="en-US"/>
          </a:p>
        </p:txBody>
      </p:sp>
      <p:sp>
        <p:nvSpPr>
          <p:cNvPr id="7" name="Text 5"/>
          <p:cNvSpPr/>
          <p:nvPr/>
        </p:nvSpPr>
        <p:spPr>
          <a:xfrm>
            <a:off x="5943600" y="182880"/>
            <a:ext cx="1463040" cy="256032"/>
          </a:xfrm>
          <a:prstGeom prst="rect">
            <a:avLst/>
          </a:prstGeom>
          <a:noFill/>
          <a:ln/>
        </p:spPr>
        <p:txBody>
          <a:bodyPr wrap="square" lIns="0" tIns="0" rIns="0" bIns="0" rtlCol="0" anchor="ctr"/>
          <a:lstStyle/>
          <a:p>
            <a:pPr marL="0" indent="0" algn="ctr">
              <a:buNone/>
            </a:pPr>
            <a:r>
              <a:rPr lang="en-US" sz="900" b="1" dirty="0">
                <a:solidFill>
                  <a:srgbClr val="065A82"/>
                </a:solidFill>
              </a:rPr>
              <a:t>WEEK 2: MODEL OUTPUT</a:t>
            </a:r>
            <a:endParaRPr lang="en-US" sz="900" dirty="0"/>
          </a:p>
        </p:txBody>
      </p:sp>
      <p:sp>
        <p:nvSpPr>
          <p:cNvPr id="8" name="Shape 6"/>
          <p:cNvSpPr/>
          <p:nvPr/>
        </p:nvSpPr>
        <p:spPr>
          <a:xfrm>
            <a:off x="274320" y="749808"/>
            <a:ext cx="8595360" cy="457200"/>
          </a:xfrm>
          <a:prstGeom prst="rect">
            <a:avLst/>
          </a:prstGeom>
          <a:solidFill>
            <a:srgbClr val="FEF3C7"/>
          </a:solidFill>
          <a:ln/>
        </p:spPr>
        <p:txBody>
          <a:bodyPr/>
          <a:lstStyle/>
          <a:p>
            <a:endParaRPr lang="en-US"/>
          </a:p>
        </p:txBody>
      </p:sp>
      <p:sp>
        <p:nvSpPr>
          <p:cNvPr id="9" name="Text 7"/>
          <p:cNvSpPr/>
          <p:nvPr/>
        </p:nvSpPr>
        <p:spPr>
          <a:xfrm>
            <a:off x="411480" y="786384"/>
            <a:ext cx="8321040" cy="347472"/>
          </a:xfrm>
          <a:prstGeom prst="rect">
            <a:avLst/>
          </a:prstGeom>
          <a:noFill/>
          <a:ln/>
        </p:spPr>
        <p:txBody>
          <a:bodyPr wrap="square" lIns="91440" tIns="45720" rIns="91440" bIns="45720" rtlCol="0" anchor="ctr"/>
          <a:lstStyle/>
          <a:p>
            <a:r>
              <a:rPr lang="en-US" sz="1100" b="1" dirty="0">
                <a:solidFill>
                  <a:srgbClr val="B45309"/>
                </a:solidFill>
              </a:rPr>
              <a:t>Question this answers: How accurate is our regression model in predicting the energy demand of the Modesto building?</a:t>
            </a:r>
            <a:endParaRPr lang="en-US" sz="1100" b="1" dirty="0">
              <a:solidFill>
                <a:srgbClr val="B45309"/>
              </a:solidFill>
              <a:ea typeface="Calibri"/>
              <a:cs typeface="Calibri"/>
            </a:endParaRPr>
          </a:p>
        </p:txBody>
      </p:sp>
      <p:sp>
        <p:nvSpPr>
          <p:cNvPr id="10" name="Shape 8"/>
          <p:cNvSpPr/>
          <p:nvPr/>
        </p:nvSpPr>
        <p:spPr>
          <a:xfrm>
            <a:off x="704626" y="1298449"/>
            <a:ext cx="3985709" cy="3415552"/>
          </a:xfrm>
          <a:prstGeom prst="rect">
            <a:avLst/>
          </a:prstGeom>
          <a:solidFill>
            <a:srgbClr val="F8FAFC"/>
          </a:solidFill>
          <a:ln w="12700">
            <a:solidFill>
              <a:srgbClr val="CBD5E1"/>
            </a:solidFill>
            <a:prstDash val="dash"/>
          </a:ln>
        </p:spPr>
        <p:txBody>
          <a:bodyPr/>
          <a:lstStyle/>
          <a:p>
            <a:endParaRPr lang="en-US"/>
          </a:p>
        </p:txBody>
      </p:sp>
      <p:sp>
        <p:nvSpPr>
          <p:cNvPr id="11" name="Text 9"/>
          <p:cNvSpPr/>
          <p:nvPr/>
        </p:nvSpPr>
        <p:spPr>
          <a:xfrm>
            <a:off x="274320" y="1298448"/>
            <a:ext cx="4846320" cy="2743200"/>
          </a:xfrm>
          <a:prstGeom prst="rect">
            <a:avLst/>
          </a:prstGeom>
          <a:noFill/>
          <a:ln/>
        </p:spPr>
        <p:txBody>
          <a:bodyPr wrap="square" rtlCol="0" anchor="ctr"/>
          <a:lstStyle/>
          <a:p>
            <a:pPr marL="0" indent="0" algn="ctr">
              <a:buNone/>
            </a:pPr>
            <a:r>
              <a:rPr lang="en-US" sz="1300" i="1" dirty="0">
                <a:solidFill>
                  <a:srgbClr val="94A3B8"/>
                </a:solidFill>
              </a:rPr>
              <a:t>[ PASTE MODEL OUTPUT</a:t>
            </a:r>
            <a:endParaRPr lang="en-US" sz="1300" dirty="0"/>
          </a:p>
          <a:p>
            <a:pPr marL="0" indent="0" algn="ctr">
              <a:buNone/>
            </a:pPr>
            <a:r>
              <a:rPr lang="en-US" sz="1300" i="1" dirty="0">
                <a:solidFill>
                  <a:srgbClr val="94A3B8"/>
                </a:solidFill>
              </a:rPr>
              <a:t>(actual vs predicted plot,</a:t>
            </a:r>
            <a:endParaRPr lang="en-US" sz="1300" dirty="0"/>
          </a:p>
          <a:p>
            <a:pPr marL="0" indent="0" algn="ctr">
              <a:buNone/>
            </a:pPr>
            <a:r>
              <a:rPr lang="en-US" sz="1300" i="1" dirty="0">
                <a:solidFill>
                  <a:srgbClr val="94A3B8"/>
                </a:solidFill>
              </a:rPr>
              <a:t>confusion matrix, etc.) ]</a:t>
            </a:r>
            <a:endParaRPr lang="en-US" sz="1300" dirty="0"/>
          </a:p>
        </p:txBody>
      </p:sp>
      <p:sp>
        <p:nvSpPr>
          <p:cNvPr id="12" name="Shape 10"/>
          <p:cNvSpPr/>
          <p:nvPr/>
        </p:nvSpPr>
        <p:spPr>
          <a:xfrm>
            <a:off x="5212080" y="1298448"/>
            <a:ext cx="3657600" cy="2743200"/>
          </a:xfrm>
          <a:prstGeom prst="rect">
            <a:avLst/>
          </a:prstGeom>
          <a:solidFill>
            <a:srgbClr val="FFFBEB"/>
          </a:solidFill>
          <a:ln/>
        </p:spPr>
        <p:txBody>
          <a:bodyPr/>
          <a:lstStyle/>
          <a:p>
            <a:endParaRPr lang="en-US"/>
          </a:p>
        </p:txBody>
      </p:sp>
      <p:sp>
        <p:nvSpPr>
          <p:cNvPr id="13" name="Text 11"/>
          <p:cNvSpPr/>
          <p:nvPr/>
        </p:nvSpPr>
        <p:spPr>
          <a:xfrm>
            <a:off x="5321808" y="1371600"/>
            <a:ext cx="3438144" cy="274320"/>
          </a:xfrm>
          <a:prstGeom prst="rect">
            <a:avLst/>
          </a:prstGeom>
          <a:noFill/>
          <a:ln/>
        </p:spPr>
        <p:txBody>
          <a:bodyPr wrap="square" lIns="0" tIns="0" rIns="0" bIns="0" rtlCol="0" anchor="ctr"/>
          <a:lstStyle/>
          <a:p>
            <a:pPr marL="0" indent="0">
              <a:buNone/>
            </a:pPr>
            <a:r>
              <a:rPr lang="en-US" sz="1100" b="1" dirty="0">
                <a:solidFill>
                  <a:srgbClr val="B45309"/>
                </a:solidFill>
              </a:rPr>
              <a:t>Key numbers:</a:t>
            </a:r>
            <a:endParaRPr lang="en-US" sz="1100" dirty="0"/>
          </a:p>
        </p:txBody>
      </p:sp>
      <p:sp>
        <p:nvSpPr>
          <p:cNvPr id="14" name="Text 12"/>
          <p:cNvSpPr/>
          <p:nvPr/>
        </p:nvSpPr>
        <p:spPr>
          <a:xfrm>
            <a:off x="5321808" y="1691640"/>
            <a:ext cx="3438144" cy="2240280"/>
          </a:xfrm>
          <a:prstGeom prst="rect">
            <a:avLst/>
          </a:prstGeom>
          <a:noFill/>
          <a:ln/>
        </p:spPr>
        <p:txBody>
          <a:bodyPr wrap="square" lIns="0" tIns="0" rIns="0" bIns="0" rtlCol="0" anchor="ctr"/>
          <a:lstStyle/>
          <a:p>
            <a:r>
              <a:rPr lang="en-US" sz="1100" dirty="0">
                <a:solidFill>
                  <a:srgbClr val="1E293B"/>
                </a:solidFill>
              </a:rPr>
              <a:t>
</a:t>
            </a:r>
            <a:r>
              <a:rPr lang="en-US" sz="1100" b="1">
                <a:solidFill>
                  <a:srgbClr val="065A82"/>
                </a:solidFill>
              </a:rPr>
              <a:t>Regression Model:</a:t>
            </a:r>
            <a:r>
              <a:rPr lang="en-US" sz="1100" dirty="0">
                <a:solidFill>
                  <a:srgbClr val="1E293B"/>
                </a:solidFill>
              </a:rPr>
              <a:t>
</a:t>
            </a:r>
            <a:r>
              <a:rPr lang="en-US" sz="1100" b="1">
                <a:solidFill>
                  <a:srgbClr val="065A82"/>
                </a:solidFill>
              </a:rPr>
              <a:t> R² = 0.958</a:t>
            </a:r>
            <a:r>
              <a:rPr lang="en-US" sz="1100" b="1" dirty="0">
                <a:solidFill>
                  <a:srgbClr val="065A82"/>
                </a:solidFill>
              </a:rPr>
              <a:t>
 MAE = 25.8 kWh</a:t>
            </a:r>
            <a:endParaRPr lang="en-US" sz="1100" i="1" dirty="0">
              <a:solidFill>
                <a:srgbClr val="64748B"/>
              </a:solidFill>
            </a:endParaRPr>
          </a:p>
          <a:p>
            <a:endParaRPr lang="en-US" sz="1100" b="1" dirty="0">
              <a:solidFill>
                <a:srgbClr val="065A82"/>
              </a:solidFill>
            </a:endParaRPr>
          </a:p>
          <a:p>
            <a:r>
              <a:rPr lang="en-US" sz="1100" b="1" dirty="0">
                <a:solidFill>
                  <a:srgbClr val="065A82"/>
                </a:solidFill>
              </a:rPr>
              <a:t>Classification Model:
</a:t>
            </a:r>
            <a:r>
              <a:rPr lang="en-US" sz="1100" b="1">
                <a:solidFill>
                  <a:srgbClr val="065A82"/>
                </a:solidFill>
              </a:rPr>
              <a:t> Critical accuracy = 100%</a:t>
            </a:r>
            <a:r>
              <a:rPr lang="en-US" sz="1100" b="1" dirty="0">
                <a:solidFill>
                  <a:srgbClr val="065A82"/>
                </a:solidFill>
              </a:rPr>
              <a:t>
</a:t>
            </a:r>
            <a:r>
              <a:rPr lang="en-US" sz="1100" b="1">
                <a:solidFill>
                  <a:srgbClr val="065A82"/>
                </a:solidFill>
              </a:rPr>
              <a:t> Hardest to classify: Gas Station</a:t>
            </a:r>
            <a:r>
              <a:rPr lang="en-US" sz="1100" b="1" dirty="0">
                <a:solidFill>
                  <a:srgbClr val="065A82"/>
                </a:solidFill>
              </a:rPr>
              <a:t>
</a:t>
            </a:r>
            <a:endParaRPr lang="en-US" sz="1100" i="1">
              <a:solidFill>
                <a:srgbClr val="64748B"/>
              </a:solidFill>
              <a:ea typeface="Calibri"/>
              <a:cs typeface="Calibri"/>
            </a:endParaRPr>
          </a:p>
        </p:txBody>
      </p:sp>
      <p:sp>
        <p:nvSpPr>
          <p:cNvPr id="15" name="Text 13"/>
          <p:cNvSpPr/>
          <p:nvPr/>
        </p:nvSpPr>
        <p:spPr>
          <a:xfrm>
            <a:off x="0" y="4887468"/>
            <a:ext cx="9144000" cy="256032"/>
          </a:xfrm>
          <a:prstGeom prst="rect">
            <a:avLst/>
          </a:prstGeom>
          <a:noFill/>
          <a:ln/>
        </p:spPr>
        <p:txBody>
          <a:bodyPr wrap="square" lIns="91440" tIns="45720" rIns="91440" bIns="45720" rtlCol="0" anchor="ctr"/>
          <a:lstStyle/>
          <a:p>
            <a:pPr algn="ctr"/>
            <a:r>
              <a:rPr lang="en-US" sz="800" i="1">
                <a:solidFill>
                  <a:srgbClr val="64748B"/>
                </a:solidFill>
              </a:rPr>
              <a:t>Smart City AI Design Challenge  · James Mitchell  ·  May 2025</a:t>
            </a:r>
            <a:endParaRPr lang="en-US" sz="800"/>
          </a:p>
        </p:txBody>
      </p:sp>
      <p:sp>
        <p:nvSpPr>
          <p:cNvPr id="16" name="Text 14"/>
          <p:cNvSpPr/>
          <p:nvPr/>
        </p:nvSpPr>
        <p:spPr>
          <a:xfrm>
            <a:off x="8595360" y="4869180"/>
            <a:ext cx="457200" cy="228600"/>
          </a:xfrm>
          <a:prstGeom prst="rect">
            <a:avLst/>
          </a:prstGeom>
          <a:noFill/>
          <a:ln/>
        </p:spPr>
        <p:txBody>
          <a:bodyPr wrap="square" lIns="91440" tIns="45720" rIns="91440" bIns="45720" rtlCol="0" anchor="ctr"/>
          <a:lstStyle/>
          <a:p>
            <a:pPr marL="0" indent="0" algn="r">
              <a:buNone/>
            </a:pPr>
            <a:r>
              <a:rPr lang="en-US" sz="800">
                <a:solidFill>
                  <a:srgbClr val="64748B"/>
                </a:solidFill>
              </a:rPr>
              <a:t>6 / 9</a:t>
            </a:r>
            <a:endParaRPr lang="en-US" sz="800" dirty="0"/>
          </a:p>
        </p:txBody>
      </p:sp>
      <p:pic>
        <p:nvPicPr>
          <p:cNvPr id="17" name="Picture 16" descr="A graph with a red line&#10;&#10;AI-generated content may be incorrect.">
            <a:extLst>
              <a:ext uri="{FF2B5EF4-FFF2-40B4-BE49-F238E27FC236}">
                <a16:creationId xmlns:a16="http://schemas.microsoft.com/office/drawing/2014/main" id="{E505678B-35C0-D92C-123F-35BB3C6AFD54}"/>
              </a:ext>
            </a:extLst>
          </p:cNvPr>
          <p:cNvPicPr>
            <a:picLocks noChangeAspect="1"/>
          </p:cNvPicPr>
          <p:nvPr/>
        </p:nvPicPr>
        <p:blipFill>
          <a:blip r:embed="rId3"/>
          <a:stretch>
            <a:fillRect/>
          </a:stretch>
        </p:blipFill>
        <p:spPr>
          <a:xfrm>
            <a:off x="706631" y="1297640"/>
            <a:ext cx="3985734" cy="34155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a:extLst>
            <a:ext uri="{FF2B5EF4-FFF2-40B4-BE49-F238E27FC236}">
              <a16:creationId xmlns:a16="http://schemas.microsoft.com/office/drawing/2014/main" id="{D5F9D787-2AE2-EC0C-C964-EF26B1C62CD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C70ECDC-49E8-A839-F9F7-6867FD45A7C0}"/>
              </a:ext>
            </a:extLst>
          </p:cNvPr>
          <p:cNvSpPr/>
          <p:nvPr/>
        </p:nvSpPr>
        <p:spPr>
          <a:xfrm>
            <a:off x="0" y="0"/>
            <a:ext cx="9144000" cy="640080"/>
          </a:xfrm>
          <a:prstGeom prst="rect">
            <a:avLst/>
          </a:prstGeom>
          <a:solidFill>
            <a:srgbClr val="1C7293"/>
          </a:solidFill>
          <a:ln/>
        </p:spPr>
        <p:txBody>
          <a:bodyPr/>
          <a:lstStyle/>
          <a:p>
            <a:endParaRPr lang="en-US"/>
          </a:p>
        </p:txBody>
      </p:sp>
      <p:sp>
        <p:nvSpPr>
          <p:cNvPr id="3" name="Text 1">
            <a:extLst>
              <a:ext uri="{FF2B5EF4-FFF2-40B4-BE49-F238E27FC236}">
                <a16:creationId xmlns:a16="http://schemas.microsoft.com/office/drawing/2014/main" id="{CE082454-1FC1-49F9-8421-9F98666FAE3B}"/>
              </a:ext>
            </a:extLst>
          </p:cNvPr>
          <p:cNvSpPr/>
          <p:nvPr/>
        </p:nvSpPr>
        <p:spPr>
          <a:xfrm>
            <a:off x="365760" y="0"/>
            <a:ext cx="6858000" cy="640080"/>
          </a:xfrm>
          <a:prstGeom prst="rect">
            <a:avLst/>
          </a:prstGeom>
          <a:noFill/>
          <a:ln/>
        </p:spPr>
        <p:txBody>
          <a:bodyPr wrap="square" lIns="91440" tIns="45720" rIns="91440" bIns="45720" rtlCol="0" anchor="ctr"/>
          <a:lstStyle/>
          <a:p>
            <a:pPr marL="0" indent="0">
              <a:buNone/>
            </a:pPr>
            <a:r>
              <a:rPr lang="en-US" sz="2200" b="1">
                <a:solidFill>
                  <a:schemeClr val="bg2"/>
                </a:solidFill>
              </a:rPr>
              <a:t>Part 4: Our Evidence — Visualization 3</a:t>
            </a:r>
            <a:endParaRPr lang="en-US" sz="2200">
              <a:solidFill>
                <a:schemeClr val="bg2"/>
              </a:solidFill>
              <a:ea typeface="Calibri"/>
              <a:cs typeface="Calibri"/>
            </a:endParaRPr>
          </a:p>
        </p:txBody>
      </p:sp>
      <p:sp>
        <p:nvSpPr>
          <p:cNvPr id="4" name="Shape 2">
            <a:extLst>
              <a:ext uri="{FF2B5EF4-FFF2-40B4-BE49-F238E27FC236}">
                <a16:creationId xmlns:a16="http://schemas.microsoft.com/office/drawing/2014/main" id="{76B0D4BD-23A5-F045-5A6E-EF75FEF88D0A}"/>
              </a:ext>
            </a:extLst>
          </p:cNvPr>
          <p:cNvSpPr/>
          <p:nvPr/>
        </p:nvSpPr>
        <p:spPr>
          <a:xfrm>
            <a:off x="7498080" y="182880"/>
            <a:ext cx="1463040" cy="256032"/>
          </a:xfrm>
          <a:prstGeom prst="roundRect">
            <a:avLst>
              <a:gd name="adj" fmla="val 17857"/>
            </a:avLst>
          </a:prstGeom>
          <a:solidFill>
            <a:srgbClr val="00B4D8"/>
          </a:solidFill>
          <a:ln/>
        </p:spPr>
        <p:txBody>
          <a:bodyPr/>
          <a:lstStyle/>
          <a:p>
            <a:endParaRPr lang="en-US"/>
          </a:p>
        </p:txBody>
      </p:sp>
      <p:sp>
        <p:nvSpPr>
          <p:cNvPr id="5" name="Text 3">
            <a:extLst>
              <a:ext uri="{FF2B5EF4-FFF2-40B4-BE49-F238E27FC236}">
                <a16:creationId xmlns:a16="http://schemas.microsoft.com/office/drawing/2014/main" id="{0D9C8191-867D-BDEC-6119-742F66C4F3F4}"/>
              </a:ext>
            </a:extLst>
          </p:cNvPr>
          <p:cNvSpPr/>
          <p:nvPr/>
        </p:nvSpPr>
        <p:spPr>
          <a:xfrm>
            <a:off x="7498080" y="182880"/>
            <a:ext cx="1463040" cy="256032"/>
          </a:xfrm>
          <a:prstGeom prst="rect">
            <a:avLst/>
          </a:prstGeom>
          <a:noFill/>
          <a:ln/>
        </p:spPr>
        <p:txBody>
          <a:bodyPr wrap="square" lIns="0" tIns="0" rIns="0" bIns="0" rtlCol="0" anchor="ctr"/>
          <a:lstStyle/>
          <a:p>
            <a:pPr marL="0" indent="0" algn="ctr">
              <a:buNone/>
            </a:pPr>
            <a:r>
              <a:rPr lang="en-US" sz="900" b="1">
                <a:solidFill>
                  <a:srgbClr val="065A82"/>
                </a:solidFill>
              </a:rPr>
              <a:t>SLIDE 7 OF 9</a:t>
            </a:r>
            <a:endParaRPr lang="en-US" sz="900"/>
          </a:p>
        </p:txBody>
      </p:sp>
      <p:sp>
        <p:nvSpPr>
          <p:cNvPr id="6" name="Shape 4">
            <a:extLst>
              <a:ext uri="{FF2B5EF4-FFF2-40B4-BE49-F238E27FC236}">
                <a16:creationId xmlns:a16="http://schemas.microsoft.com/office/drawing/2014/main" id="{5DFA29AD-C2FC-3A79-9B17-881634A25CFA}"/>
              </a:ext>
            </a:extLst>
          </p:cNvPr>
          <p:cNvSpPr/>
          <p:nvPr/>
        </p:nvSpPr>
        <p:spPr>
          <a:xfrm>
            <a:off x="5943600" y="182880"/>
            <a:ext cx="1463040" cy="256032"/>
          </a:xfrm>
          <a:prstGeom prst="roundRect">
            <a:avLst>
              <a:gd name="adj" fmla="val 17857"/>
            </a:avLst>
          </a:prstGeom>
          <a:solidFill>
            <a:srgbClr val="B45309"/>
          </a:solidFill>
          <a:ln/>
        </p:spPr>
        <p:txBody>
          <a:bodyPr/>
          <a:lstStyle/>
          <a:p>
            <a:endParaRPr lang="en-US"/>
          </a:p>
        </p:txBody>
      </p:sp>
      <p:sp>
        <p:nvSpPr>
          <p:cNvPr id="7" name="Text 5">
            <a:extLst>
              <a:ext uri="{FF2B5EF4-FFF2-40B4-BE49-F238E27FC236}">
                <a16:creationId xmlns:a16="http://schemas.microsoft.com/office/drawing/2014/main" id="{03554C59-65D1-5185-2AF4-FF503FBD3A0C}"/>
              </a:ext>
            </a:extLst>
          </p:cNvPr>
          <p:cNvSpPr/>
          <p:nvPr/>
        </p:nvSpPr>
        <p:spPr>
          <a:xfrm>
            <a:off x="5943600" y="182880"/>
            <a:ext cx="1463040" cy="256032"/>
          </a:xfrm>
          <a:prstGeom prst="rect">
            <a:avLst/>
          </a:prstGeom>
          <a:noFill/>
          <a:ln/>
        </p:spPr>
        <p:txBody>
          <a:bodyPr wrap="square" lIns="0" tIns="0" rIns="0" bIns="0" rtlCol="0" anchor="ctr"/>
          <a:lstStyle/>
          <a:p>
            <a:pPr marL="0" indent="0" algn="ctr">
              <a:buNone/>
            </a:pPr>
            <a:r>
              <a:rPr lang="en-US" sz="900" b="1">
                <a:solidFill>
                  <a:srgbClr val="065A82"/>
                </a:solidFill>
              </a:rPr>
              <a:t>WEEK 3: MODEL OUTPUT</a:t>
            </a:r>
            <a:endParaRPr lang="en-US" sz="900"/>
          </a:p>
        </p:txBody>
      </p:sp>
      <p:sp>
        <p:nvSpPr>
          <p:cNvPr id="8" name="Shape 6">
            <a:extLst>
              <a:ext uri="{FF2B5EF4-FFF2-40B4-BE49-F238E27FC236}">
                <a16:creationId xmlns:a16="http://schemas.microsoft.com/office/drawing/2014/main" id="{94C69571-49F4-15F1-D0DE-97B156C7B158}"/>
              </a:ext>
            </a:extLst>
          </p:cNvPr>
          <p:cNvSpPr/>
          <p:nvPr/>
        </p:nvSpPr>
        <p:spPr>
          <a:xfrm>
            <a:off x="274320" y="749808"/>
            <a:ext cx="8595360" cy="457200"/>
          </a:xfrm>
          <a:prstGeom prst="rect">
            <a:avLst/>
          </a:prstGeom>
          <a:solidFill>
            <a:srgbClr val="FEF3C7"/>
          </a:solidFill>
          <a:ln/>
        </p:spPr>
        <p:txBody>
          <a:bodyPr/>
          <a:lstStyle/>
          <a:p>
            <a:endParaRPr lang="en-US"/>
          </a:p>
        </p:txBody>
      </p:sp>
      <p:sp>
        <p:nvSpPr>
          <p:cNvPr id="9" name="Text 7">
            <a:extLst>
              <a:ext uri="{FF2B5EF4-FFF2-40B4-BE49-F238E27FC236}">
                <a16:creationId xmlns:a16="http://schemas.microsoft.com/office/drawing/2014/main" id="{F632276F-CEA3-FE94-646A-F07F8CF987D1}"/>
              </a:ext>
            </a:extLst>
          </p:cNvPr>
          <p:cNvSpPr/>
          <p:nvPr/>
        </p:nvSpPr>
        <p:spPr>
          <a:xfrm>
            <a:off x="411480" y="786384"/>
            <a:ext cx="8321040" cy="347472"/>
          </a:xfrm>
          <a:prstGeom prst="rect">
            <a:avLst/>
          </a:prstGeom>
          <a:noFill/>
          <a:ln/>
        </p:spPr>
        <p:txBody>
          <a:bodyPr wrap="square" lIns="91440" tIns="45720" rIns="91440" bIns="45720" rtlCol="0" anchor="ctr"/>
          <a:lstStyle/>
          <a:p>
            <a:r>
              <a:rPr lang="en-US" sz="1100" b="1">
                <a:solidFill>
                  <a:srgbClr val="B45309"/>
                </a:solidFill>
              </a:rPr>
              <a:t>Question this answers: What correlation can be found in the classification of the buildings.</a:t>
            </a:r>
            <a:endParaRPr lang="en-US" sz="1100" b="1">
              <a:solidFill>
                <a:srgbClr val="B45309"/>
              </a:solidFill>
              <a:ea typeface="Calibri"/>
              <a:cs typeface="Calibri"/>
            </a:endParaRPr>
          </a:p>
        </p:txBody>
      </p:sp>
      <p:sp>
        <p:nvSpPr>
          <p:cNvPr id="10" name="Shape 8">
            <a:extLst>
              <a:ext uri="{FF2B5EF4-FFF2-40B4-BE49-F238E27FC236}">
                <a16:creationId xmlns:a16="http://schemas.microsoft.com/office/drawing/2014/main" id="{2DF69399-DF8C-C795-05BC-9502D85082F2}"/>
              </a:ext>
            </a:extLst>
          </p:cNvPr>
          <p:cNvSpPr/>
          <p:nvPr/>
        </p:nvSpPr>
        <p:spPr>
          <a:xfrm>
            <a:off x="408025" y="1283981"/>
            <a:ext cx="4159329" cy="2750008"/>
          </a:xfrm>
          <a:prstGeom prst="rect">
            <a:avLst/>
          </a:prstGeom>
          <a:solidFill>
            <a:srgbClr val="F8FAFC"/>
          </a:solidFill>
          <a:ln w="12700">
            <a:solidFill>
              <a:srgbClr val="CBD5E1"/>
            </a:solidFill>
            <a:prstDash val="dash"/>
          </a:ln>
        </p:spPr>
        <p:txBody>
          <a:bodyPr/>
          <a:lstStyle/>
          <a:p>
            <a:endParaRPr lang="en-US"/>
          </a:p>
        </p:txBody>
      </p:sp>
      <p:sp>
        <p:nvSpPr>
          <p:cNvPr id="12" name="Shape 10">
            <a:extLst>
              <a:ext uri="{FF2B5EF4-FFF2-40B4-BE49-F238E27FC236}">
                <a16:creationId xmlns:a16="http://schemas.microsoft.com/office/drawing/2014/main" id="{238F412F-4A79-A006-6E0C-006DD36222F5}"/>
              </a:ext>
            </a:extLst>
          </p:cNvPr>
          <p:cNvSpPr/>
          <p:nvPr/>
        </p:nvSpPr>
        <p:spPr>
          <a:xfrm>
            <a:off x="5212080" y="1298448"/>
            <a:ext cx="3657600" cy="2743200"/>
          </a:xfrm>
          <a:prstGeom prst="rect">
            <a:avLst/>
          </a:prstGeom>
          <a:solidFill>
            <a:srgbClr val="FFFBEB"/>
          </a:solidFill>
          <a:ln/>
        </p:spPr>
        <p:txBody>
          <a:bodyPr/>
          <a:lstStyle/>
          <a:p>
            <a:endParaRPr lang="en-US"/>
          </a:p>
        </p:txBody>
      </p:sp>
      <p:sp>
        <p:nvSpPr>
          <p:cNvPr id="13" name="Text 11">
            <a:extLst>
              <a:ext uri="{FF2B5EF4-FFF2-40B4-BE49-F238E27FC236}">
                <a16:creationId xmlns:a16="http://schemas.microsoft.com/office/drawing/2014/main" id="{E0E7B5A5-7CB9-C4C8-0784-61DCB1821F2A}"/>
              </a:ext>
            </a:extLst>
          </p:cNvPr>
          <p:cNvSpPr/>
          <p:nvPr/>
        </p:nvSpPr>
        <p:spPr>
          <a:xfrm>
            <a:off x="5321808" y="1371600"/>
            <a:ext cx="3438144" cy="274320"/>
          </a:xfrm>
          <a:prstGeom prst="rect">
            <a:avLst/>
          </a:prstGeom>
          <a:noFill/>
          <a:ln/>
        </p:spPr>
        <p:txBody>
          <a:bodyPr wrap="square" lIns="0" tIns="0" rIns="0" bIns="0" rtlCol="0" anchor="ctr"/>
          <a:lstStyle/>
          <a:p>
            <a:r>
              <a:rPr lang="en-US" sz="1100" b="1">
                <a:solidFill>
                  <a:srgbClr val="B45309"/>
                </a:solidFill>
                <a:ea typeface="Calibri"/>
                <a:cs typeface="Calibri"/>
              </a:rPr>
              <a:t>What this shows:</a:t>
            </a:r>
            <a:endParaRPr lang="en-US" sz="1100" b="1" dirty="0">
              <a:solidFill>
                <a:srgbClr val="B45309"/>
              </a:solidFill>
              <a:ea typeface="Calibri"/>
              <a:cs typeface="Calibri"/>
            </a:endParaRPr>
          </a:p>
        </p:txBody>
      </p:sp>
      <p:sp>
        <p:nvSpPr>
          <p:cNvPr id="14" name="Text 12">
            <a:extLst>
              <a:ext uri="{FF2B5EF4-FFF2-40B4-BE49-F238E27FC236}">
                <a16:creationId xmlns:a16="http://schemas.microsoft.com/office/drawing/2014/main" id="{2569F99F-594F-1174-9C85-83D048ECA680}"/>
              </a:ext>
            </a:extLst>
          </p:cNvPr>
          <p:cNvSpPr/>
          <p:nvPr/>
        </p:nvSpPr>
        <p:spPr>
          <a:xfrm>
            <a:off x="5321808" y="1691640"/>
            <a:ext cx="3438144" cy="2240280"/>
          </a:xfrm>
          <a:prstGeom prst="rect">
            <a:avLst/>
          </a:prstGeom>
          <a:noFill/>
          <a:ln/>
        </p:spPr>
        <p:txBody>
          <a:bodyPr wrap="square" lIns="0" tIns="0" rIns="0" bIns="0" rtlCol="0" anchor="ctr"/>
          <a:lstStyle/>
          <a:p>
            <a:r>
              <a:rPr lang="en-US" sz="1100" dirty="0">
                <a:solidFill>
                  <a:srgbClr val="1E293B"/>
                </a:solidFill>
              </a:rPr>
              <a:t>
</a:t>
            </a:r>
            <a:r>
              <a:rPr lang="en-US" sz="1100" b="1" dirty="0">
                <a:solidFill>
                  <a:schemeClr val="tx2"/>
                </a:solidFill>
              </a:rPr>
              <a:t>At</a:t>
            </a:r>
            <a:r>
              <a:rPr lang="en-US" sz="1100" b="1" dirty="0">
                <a:solidFill>
                  <a:schemeClr val="tx2"/>
                </a:solidFill>
                <a:latin typeface="Calibri"/>
                <a:ea typeface="Calibri"/>
                <a:cs typeface="Calibri"/>
              </a:rPr>
              <a:t> first sight there seems to be no correlation between individual features and a buildings' criticality ranking; this demonstrates why we used a decision tree model to classify buildings. Instead of trying to find a trend in the data, it divides data in a sort of binary search to determine its ranking.</a:t>
            </a:r>
          </a:p>
          <a:p>
            <a:r>
              <a:rPr lang="en-US" sz="1100" b="1" dirty="0">
                <a:solidFill>
                  <a:srgbClr val="065A82"/>
                </a:solidFill>
              </a:rPr>
              <a:t>
</a:t>
            </a:r>
            <a:endParaRPr lang="en-US" sz="1100" i="1">
              <a:solidFill>
                <a:srgbClr val="64748B"/>
              </a:solidFill>
              <a:ea typeface="Calibri"/>
              <a:cs typeface="Calibri"/>
            </a:endParaRPr>
          </a:p>
        </p:txBody>
      </p:sp>
      <p:sp>
        <p:nvSpPr>
          <p:cNvPr id="15" name="Text 13">
            <a:extLst>
              <a:ext uri="{FF2B5EF4-FFF2-40B4-BE49-F238E27FC236}">
                <a16:creationId xmlns:a16="http://schemas.microsoft.com/office/drawing/2014/main" id="{065B1910-C731-DE83-36E6-FCF7C1565686}"/>
              </a:ext>
            </a:extLst>
          </p:cNvPr>
          <p:cNvSpPr/>
          <p:nvPr/>
        </p:nvSpPr>
        <p:spPr>
          <a:xfrm>
            <a:off x="0" y="4887468"/>
            <a:ext cx="9144000" cy="256032"/>
          </a:xfrm>
          <a:prstGeom prst="rect">
            <a:avLst/>
          </a:prstGeom>
          <a:noFill/>
          <a:ln/>
        </p:spPr>
        <p:txBody>
          <a:bodyPr wrap="square" lIns="91440" tIns="45720" rIns="91440" bIns="45720" rtlCol="0" anchor="ctr"/>
          <a:lstStyle/>
          <a:p>
            <a:pPr algn="ctr"/>
            <a:r>
              <a:rPr lang="en-US" sz="800" i="1">
                <a:solidFill>
                  <a:srgbClr val="64748B"/>
                </a:solidFill>
              </a:rPr>
              <a:t>Smart City AI Design Challenge  · James Mitchell  ·  May 2025</a:t>
            </a:r>
            <a:endParaRPr lang="en-US" sz="800"/>
          </a:p>
        </p:txBody>
      </p:sp>
      <p:sp>
        <p:nvSpPr>
          <p:cNvPr id="16" name="Text 14">
            <a:extLst>
              <a:ext uri="{FF2B5EF4-FFF2-40B4-BE49-F238E27FC236}">
                <a16:creationId xmlns:a16="http://schemas.microsoft.com/office/drawing/2014/main" id="{AC9CCFAB-A7C4-CC25-5ABB-F9D46C066506}"/>
              </a:ext>
            </a:extLst>
          </p:cNvPr>
          <p:cNvSpPr/>
          <p:nvPr/>
        </p:nvSpPr>
        <p:spPr>
          <a:xfrm>
            <a:off x="8595360" y="4869180"/>
            <a:ext cx="457200" cy="228600"/>
          </a:xfrm>
          <a:prstGeom prst="rect">
            <a:avLst/>
          </a:prstGeom>
          <a:noFill/>
          <a:ln/>
        </p:spPr>
        <p:txBody>
          <a:bodyPr wrap="square" lIns="91440" tIns="45720" rIns="91440" bIns="45720" rtlCol="0" anchor="ctr"/>
          <a:lstStyle/>
          <a:p>
            <a:pPr marL="0" indent="0" algn="r">
              <a:buNone/>
            </a:pPr>
            <a:r>
              <a:rPr lang="en-US" sz="800">
                <a:solidFill>
                  <a:srgbClr val="64748B"/>
                </a:solidFill>
              </a:rPr>
              <a:t>7/ 9</a:t>
            </a:r>
            <a:endParaRPr lang="en-US" sz="800" dirty="0"/>
          </a:p>
        </p:txBody>
      </p:sp>
      <p:sp>
        <p:nvSpPr>
          <p:cNvPr id="11" name="Text 9">
            <a:extLst>
              <a:ext uri="{FF2B5EF4-FFF2-40B4-BE49-F238E27FC236}">
                <a16:creationId xmlns:a16="http://schemas.microsoft.com/office/drawing/2014/main" id="{3F1B1C9A-40FF-95F2-765C-055F1F8BDDB6}"/>
              </a:ext>
            </a:extLst>
          </p:cNvPr>
          <p:cNvSpPr/>
          <p:nvPr/>
        </p:nvSpPr>
        <p:spPr>
          <a:xfrm>
            <a:off x="274320" y="1298448"/>
            <a:ext cx="4846320" cy="2743200"/>
          </a:xfrm>
          <a:prstGeom prst="rect">
            <a:avLst/>
          </a:prstGeom>
          <a:noFill/>
          <a:ln/>
        </p:spPr>
        <p:txBody>
          <a:bodyPr wrap="square" rtlCol="0" anchor="ctr"/>
          <a:lstStyle/>
          <a:p>
            <a:pPr marL="0" indent="0" algn="ctr">
              <a:buNone/>
            </a:pPr>
            <a:r>
              <a:rPr lang="en-US" sz="1300" i="1" dirty="0">
                <a:solidFill>
                  <a:srgbClr val="94A3B8"/>
                </a:solidFill>
              </a:rPr>
              <a:t>[ PASTE MODEL OUTPUT</a:t>
            </a:r>
            <a:endParaRPr lang="en-US" sz="1300" dirty="0"/>
          </a:p>
          <a:p>
            <a:pPr marL="0" indent="0" algn="ctr">
              <a:buNone/>
            </a:pPr>
            <a:r>
              <a:rPr lang="en-US" sz="1300" i="1" dirty="0">
                <a:solidFill>
                  <a:srgbClr val="94A3B8"/>
                </a:solidFill>
              </a:rPr>
              <a:t>(actual vs predicted plot,</a:t>
            </a:r>
            <a:endParaRPr lang="en-US" sz="1300" dirty="0"/>
          </a:p>
          <a:p>
            <a:pPr marL="0" indent="0" algn="ctr">
              <a:buNone/>
            </a:pPr>
            <a:r>
              <a:rPr lang="en-US" sz="1300" i="1" dirty="0">
                <a:solidFill>
                  <a:srgbClr val="94A3B8"/>
                </a:solidFill>
              </a:rPr>
              <a:t>confusion matrix, etc.) ]</a:t>
            </a:r>
            <a:endParaRPr lang="en-US" sz="1300" dirty="0"/>
          </a:p>
        </p:txBody>
      </p:sp>
      <p:pic>
        <p:nvPicPr>
          <p:cNvPr id="19" name="Picture 18">
            <a:extLst>
              <a:ext uri="{FF2B5EF4-FFF2-40B4-BE49-F238E27FC236}">
                <a16:creationId xmlns:a16="http://schemas.microsoft.com/office/drawing/2014/main" id="{29C135CE-8A3F-6DA5-8ACF-9BB8F61B9CE4}"/>
              </a:ext>
            </a:extLst>
          </p:cNvPr>
          <p:cNvPicPr>
            <a:picLocks noChangeAspect="1"/>
          </p:cNvPicPr>
          <p:nvPr/>
        </p:nvPicPr>
        <p:blipFill>
          <a:blip r:embed="rId3"/>
          <a:stretch>
            <a:fillRect/>
          </a:stretch>
        </p:blipFill>
        <p:spPr>
          <a:xfrm>
            <a:off x="401700" y="1294916"/>
            <a:ext cx="4180949" cy="2748989"/>
          </a:xfrm>
          <a:prstGeom prst="rect">
            <a:avLst/>
          </a:prstGeom>
        </p:spPr>
      </p:pic>
    </p:spTree>
    <p:extLst>
      <p:ext uri="{BB962C8B-B14F-4D97-AF65-F5344CB8AC3E}">
        <p14:creationId xmlns:p14="http://schemas.microsoft.com/office/powerpoint/2010/main" val="766486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65A82"/>
          </a:solidFill>
          <a:ln/>
        </p:spPr>
        <p:txBody>
          <a:bodyPr/>
          <a:lstStyle/>
          <a:p>
            <a:endParaRPr lang="en-US"/>
          </a:p>
        </p:txBody>
      </p:sp>
      <p:sp>
        <p:nvSpPr>
          <p:cNvPr id="3" name="Text 1"/>
          <p:cNvSpPr/>
          <p:nvPr/>
        </p:nvSpPr>
        <p:spPr>
          <a:xfrm>
            <a:off x="365760" y="0"/>
            <a:ext cx="6400800" cy="640080"/>
          </a:xfrm>
          <a:prstGeom prst="rect">
            <a:avLst/>
          </a:prstGeom>
          <a:noFill/>
          <a:ln/>
        </p:spPr>
        <p:txBody>
          <a:bodyPr wrap="square" rtlCol="0" anchor="ctr"/>
          <a:lstStyle/>
          <a:p>
            <a:pPr marL="0" indent="0">
              <a:buNone/>
            </a:pPr>
            <a:r>
              <a:rPr lang="en-US" sz="2200" b="1" dirty="0">
                <a:solidFill>
                  <a:srgbClr val="FFFFFF"/>
                </a:solidFill>
              </a:rPr>
              <a:t>Part 5: Design Limitations</a:t>
            </a:r>
            <a:endParaRPr lang="en-US" sz="2200" dirty="0"/>
          </a:p>
        </p:txBody>
      </p:sp>
      <p:sp>
        <p:nvSpPr>
          <p:cNvPr id="4" name="Shape 2"/>
          <p:cNvSpPr/>
          <p:nvPr/>
        </p:nvSpPr>
        <p:spPr>
          <a:xfrm>
            <a:off x="7498080" y="182880"/>
            <a:ext cx="1463040" cy="256032"/>
          </a:xfrm>
          <a:prstGeom prst="roundRect">
            <a:avLst>
              <a:gd name="adj" fmla="val 17857"/>
            </a:avLst>
          </a:prstGeom>
          <a:solidFill>
            <a:srgbClr val="00B4D8"/>
          </a:solidFill>
          <a:ln/>
        </p:spPr>
        <p:txBody>
          <a:bodyPr lIns="91440" tIns="45720" rIns="91440" bIns="45720" anchor="t"/>
          <a:lstStyle/>
          <a:p>
            <a:endParaRPr lang="en-US"/>
          </a:p>
        </p:txBody>
      </p:sp>
      <p:sp>
        <p:nvSpPr>
          <p:cNvPr id="5" name="Text 3"/>
          <p:cNvSpPr/>
          <p:nvPr/>
        </p:nvSpPr>
        <p:spPr>
          <a:xfrm>
            <a:off x="7498080" y="182880"/>
            <a:ext cx="1463040" cy="256032"/>
          </a:xfrm>
          <a:prstGeom prst="rect">
            <a:avLst/>
          </a:prstGeom>
          <a:noFill/>
          <a:ln/>
        </p:spPr>
        <p:txBody>
          <a:bodyPr wrap="square" lIns="0" tIns="0" rIns="0" bIns="0" rtlCol="0" anchor="ctr"/>
          <a:lstStyle/>
          <a:p>
            <a:pPr marL="0" indent="0" algn="ctr">
              <a:buNone/>
            </a:pPr>
            <a:r>
              <a:rPr lang="en-US" sz="900" b="1">
                <a:solidFill>
                  <a:srgbClr val="065A82"/>
                </a:solidFill>
              </a:rPr>
              <a:t>SLIDE 8 OF 9</a:t>
            </a:r>
            <a:endParaRPr lang="en-US" sz="900" dirty="0"/>
          </a:p>
        </p:txBody>
      </p:sp>
      <p:sp>
        <p:nvSpPr>
          <p:cNvPr id="6" name="Shape 4"/>
          <p:cNvSpPr/>
          <p:nvPr/>
        </p:nvSpPr>
        <p:spPr>
          <a:xfrm>
            <a:off x="228600" y="777240"/>
            <a:ext cx="4206240" cy="320040"/>
          </a:xfrm>
          <a:prstGeom prst="rect">
            <a:avLst/>
          </a:prstGeom>
          <a:solidFill>
            <a:srgbClr val="1E5631"/>
          </a:solidFill>
          <a:ln/>
        </p:spPr>
        <p:txBody>
          <a:bodyPr/>
          <a:lstStyle/>
          <a:p>
            <a:endParaRPr lang="en-US"/>
          </a:p>
        </p:txBody>
      </p:sp>
      <p:sp>
        <p:nvSpPr>
          <p:cNvPr id="7" name="Text 5"/>
          <p:cNvSpPr/>
          <p:nvPr/>
        </p:nvSpPr>
        <p:spPr>
          <a:xfrm>
            <a:off x="320040" y="777240"/>
            <a:ext cx="4023360" cy="320040"/>
          </a:xfrm>
          <a:prstGeom prst="rect">
            <a:avLst/>
          </a:prstGeom>
          <a:noFill/>
          <a:ln/>
        </p:spPr>
        <p:txBody>
          <a:bodyPr wrap="square" lIns="0" tIns="0" rIns="0" bIns="0" rtlCol="0" anchor="ctr"/>
          <a:lstStyle/>
          <a:p>
            <a:pPr marL="0" indent="0">
              <a:buNone/>
            </a:pPr>
            <a:r>
              <a:rPr lang="en-US" sz="1100" b="1" dirty="0">
                <a:solidFill>
                  <a:srgbClr val="FFFFFF"/>
                </a:solidFill>
              </a:rPr>
              <a:t>✅  What works well</a:t>
            </a:r>
            <a:endParaRPr lang="en-US" sz="1100" dirty="0"/>
          </a:p>
        </p:txBody>
      </p:sp>
      <p:sp>
        <p:nvSpPr>
          <p:cNvPr id="8" name="Shape 6"/>
          <p:cNvSpPr/>
          <p:nvPr/>
        </p:nvSpPr>
        <p:spPr>
          <a:xfrm>
            <a:off x="228600" y="1097280"/>
            <a:ext cx="4206240" cy="1691640"/>
          </a:xfrm>
          <a:prstGeom prst="rect">
            <a:avLst/>
          </a:prstGeom>
          <a:solidFill>
            <a:srgbClr val="D1FAE5"/>
          </a:solidFill>
          <a:ln/>
        </p:spPr>
        <p:txBody>
          <a:bodyPr lIns="91440" tIns="45720" rIns="91440" bIns="45720" anchor="t"/>
          <a:lstStyle/>
          <a:p>
            <a:r>
              <a:rPr lang="en-US" sz="1100" b="1" i="1">
                <a:solidFill>
                  <a:schemeClr val="tx2"/>
                </a:solidFill>
                <a:latin typeface="Calibri"/>
                <a:ea typeface="Calibri"/>
                <a:cs typeface="Calibri"/>
              </a:rPr>
              <a:t>Our designs perform well in extreme temperature scenarios, during business hours, and rerouting power in an emergency. For example, in situations </a:t>
            </a:r>
            <a:r>
              <a:rPr lang="en-US" sz="1100" b="1" i="1">
                <a:solidFill>
                  <a:schemeClr val="tx2"/>
                </a:solidFill>
                <a:ea typeface="+mn-lt"/>
                <a:cs typeface="+mn-lt"/>
              </a:rPr>
              <a:t>where the main power grid goes down, our system quickly switches to backup power to keep everything running.</a:t>
            </a:r>
            <a:endParaRPr lang="en-US" sz="1100" b="1" i="1">
              <a:solidFill>
                <a:schemeClr val="tx2"/>
              </a:solidFill>
              <a:latin typeface="Calibri"/>
              <a:ea typeface="Calibri"/>
              <a:cs typeface="Calibri"/>
            </a:endParaRPr>
          </a:p>
        </p:txBody>
      </p:sp>
      <p:sp>
        <p:nvSpPr>
          <p:cNvPr id="10" name="Shape 8"/>
          <p:cNvSpPr/>
          <p:nvPr/>
        </p:nvSpPr>
        <p:spPr>
          <a:xfrm>
            <a:off x="4709160" y="777240"/>
            <a:ext cx="4206240" cy="320040"/>
          </a:xfrm>
          <a:prstGeom prst="rect">
            <a:avLst/>
          </a:prstGeom>
          <a:solidFill>
            <a:srgbClr val="B45309"/>
          </a:solidFill>
          <a:ln/>
        </p:spPr>
        <p:txBody>
          <a:bodyPr/>
          <a:lstStyle/>
          <a:p>
            <a:endParaRPr lang="en-US"/>
          </a:p>
        </p:txBody>
      </p:sp>
      <p:sp>
        <p:nvSpPr>
          <p:cNvPr id="11" name="Text 9"/>
          <p:cNvSpPr/>
          <p:nvPr/>
        </p:nvSpPr>
        <p:spPr>
          <a:xfrm>
            <a:off x="4800600" y="777240"/>
            <a:ext cx="4023360" cy="320040"/>
          </a:xfrm>
          <a:prstGeom prst="rect">
            <a:avLst/>
          </a:prstGeom>
          <a:noFill/>
          <a:ln/>
        </p:spPr>
        <p:txBody>
          <a:bodyPr wrap="square" lIns="0" tIns="0" rIns="0" bIns="0" rtlCol="0" anchor="ctr"/>
          <a:lstStyle/>
          <a:p>
            <a:pPr marL="0" indent="0">
              <a:buNone/>
            </a:pPr>
            <a:r>
              <a:rPr lang="en-US" sz="1100" b="1" dirty="0">
                <a:solidFill>
                  <a:srgbClr val="FFFFFF"/>
                </a:solidFill>
              </a:rPr>
              <a:t>⚠️  Where it struggles</a:t>
            </a:r>
            <a:endParaRPr lang="en-US" sz="1100" dirty="0"/>
          </a:p>
        </p:txBody>
      </p:sp>
      <p:sp>
        <p:nvSpPr>
          <p:cNvPr id="12" name="Shape 10"/>
          <p:cNvSpPr/>
          <p:nvPr/>
        </p:nvSpPr>
        <p:spPr>
          <a:xfrm>
            <a:off x="4709160" y="1097280"/>
            <a:ext cx="4206240" cy="1691640"/>
          </a:xfrm>
          <a:prstGeom prst="rect">
            <a:avLst/>
          </a:prstGeom>
          <a:solidFill>
            <a:srgbClr val="FEF3C7"/>
          </a:solidFill>
          <a:ln/>
        </p:spPr>
        <p:txBody>
          <a:bodyPr lIns="91440" tIns="45720" rIns="91440" bIns="45720" anchor="t"/>
          <a:lstStyle/>
          <a:p>
            <a:r>
              <a:rPr lang="en-US" sz="1100" b="1" dirty="0">
                <a:solidFill>
                  <a:schemeClr val="tx2"/>
                </a:solidFill>
                <a:latin typeface="Calibri"/>
                <a:ea typeface="Calibri"/>
                <a:cs typeface="Calibri"/>
              </a:rPr>
              <a:t>When predicting energy for flexible buildings. In our model and selections, flexible buildings tend to be wildly spread out in all sorts of factors, primary energy consumption, and variability. These factors make it difficult for a model to create parameters that consistently identify them.</a:t>
            </a:r>
            <a:endParaRPr lang="en-US" sz="1100" b="1">
              <a:solidFill>
                <a:schemeClr val="tx2"/>
              </a:solidFill>
              <a:latin typeface="Calibri"/>
              <a:ea typeface="Calibri"/>
              <a:cs typeface="Calibri"/>
            </a:endParaRPr>
          </a:p>
        </p:txBody>
      </p:sp>
      <p:sp>
        <p:nvSpPr>
          <p:cNvPr id="14" name="Shape 12"/>
          <p:cNvSpPr/>
          <p:nvPr/>
        </p:nvSpPr>
        <p:spPr>
          <a:xfrm>
            <a:off x="228600" y="2926080"/>
            <a:ext cx="4206240" cy="320040"/>
          </a:xfrm>
          <a:prstGeom prst="rect">
            <a:avLst/>
          </a:prstGeom>
          <a:solidFill>
            <a:srgbClr val="991B1B"/>
          </a:solidFill>
          <a:ln/>
        </p:spPr>
        <p:txBody>
          <a:bodyPr/>
          <a:lstStyle/>
          <a:p>
            <a:endParaRPr lang="en-US"/>
          </a:p>
        </p:txBody>
      </p:sp>
      <p:sp>
        <p:nvSpPr>
          <p:cNvPr id="15" name="Text 13"/>
          <p:cNvSpPr/>
          <p:nvPr/>
        </p:nvSpPr>
        <p:spPr>
          <a:xfrm>
            <a:off x="320040" y="2926080"/>
            <a:ext cx="4023360" cy="320040"/>
          </a:xfrm>
          <a:prstGeom prst="rect">
            <a:avLst/>
          </a:prstGeom>
          <a:noFill/>
          <a:ln/>
        </p:spPr>
        <p:txBody>
          <a:bodyPr wrap="square" lIns="0" tIns="0" rIns="0" bIns="0" rtlCol="0" anchor="ctr"/>
          <a:lstStyle/>
          <a:p>
            <a:pPr marL="0" indent="0">
              <a:buNone/>
            </a:pPr>
            <a:r>
              <a:rPr lang="en-US" sz="1100" b="1" dirty="0">
                <a:solidFill>
                  <a:srgbClr val="FFFFFF"/>
                </a:solidFill>
              </a:rPr>
              <a:t>👥  Who might be harmed</a:t>
            </a:r>
            <a:endParaRPr lang="en-US" sz="1100" dirty="0"/>
          </a:p>
        </p:txBody>
      </p:sp>
      <p:sp>
        <p:nvSpPr>
          <p:cNvPr id="16" name="Shape 14"/>
          <p:cNvSpPr/>
          <p:nvPr/>
        </p:nvSpPr>
        <p:spPr>
          <a:xfrm>
            <a:off x="228600" y="3246120"/>
            <a:ext cx="4206240" cy="1691640"/>
          </a:xfrm>
          <a:prstGeom prst="rect">
            <a:avLst/>
          </a:prstGeom>
          <a:solidFill>
            <a:srgbClr val="FEE2E2"/>
          </a:solidFill>
          <a:ln/>
        </p:spPr>
        <p:txBody>
          <a:bodyPr lIns="91440" tIns="45720" rIns="91440" bIns="45720" anchor="t"/>
          <a:lstStyle/>
          <a:p>
            <a:r>
              <a:rPr lang="en-US" sz="1100" b="1" dirty="0">
                <a:solidFill>
                  <a:schemeClr val="tx2"/>
                </a:solidFill>
                <a:latin typeface="Calibri"/>
                <a:ea typeface="Calibri"/>
                <a:cs typeface="Calibri"/>
              </a:rPr>
              <a:t>Standard citizens attempting to evacuate and get gas for backup generators along with first responders in need of gas for their emergency vehicles </a:t>
            </a:r>
            <a:r>
              <a:rPr lang="en-US" sz="1100" b="1" dirty="0">
                <a:solidFill>
                  <a:schemeClr val="tx2"/>
                </a:solidFill>
                <a:ea typeface="+mn-lt"/>
                <a:cs typeface="+mn-lt"/>
              </a:rPr>
              <a:t>could all be harmed if local gas stations run out of fuel or lose power.</a:t>
            </a:r>
            <a:endParaRPr lang="en-US" sz="1100" b="1" dirty="0">
              <a:solidFill>
                <a:schemeClr val="tx2"/>
              </a:solidFill>
              <a:latin typeface="Calibri"/>
              <a:ea typeface="Calibri"/>
              <a:cs typeface="Calibri"/>
            </a:endParaRPr>
          </a:p>
        </p:txBody>
      </p:sp>
      <p:sp>
        <p:nvSpPr>
          <p:cNvPr id="18" name="Shape 16"/>
          <p:cNvSpPr/>
          <p:nvPr/>
        </p:nvSpPr>
        <p:spPr>
          <a:xfrm>
            <a:off x="4709160" y="2926080"/>
            <a:ext cx="4206240" cy="320040"/>
          </a:xfrm>
          <a:prstGeom prst="rect">
            <a:avLst/>
          </a:prstGeom>
          <a:solidFill>
            <a:srgbClr val="4A1D96"/>
          </a:solidFill>
          <a:ln/>
        </p:spPr>
        <p:txBody>
          <a:bodyPr/>
          <a:lstStyle/>
          <a:p>
            <a:endParaRPr lang="en-US"/>
          </a:p>
        </p:txBody>
      </p:sp>
      <p:sp>
        <p:nvSpPr>
          <p:cNvPr id="19" name="Text 17"/>
          <p:cNvSpPr/>
          <p:nvPr/>
        </p:nvSpPr>
        <p:spPr>
          <a:xfrm>
            <a:off x="4800600" y="2926080"/>
            <a:ext cx="4023360" cy="320040"/>
          </a:xfrm>
          <a:prstGeom prst="rect">
            <a:avLst/>
          </a:prstGeom>
          <a:noFill/>
          <a:ln/>
        </p:spPr>
        <p:txBody>
          <a:bodyPr wrap="square" lIns="0" tIns="0" rIns="0" bIns="0" rtlCol="0" anchor="ctr"/>
          <a:lstStyle/>
          <a:p>
            <a:pPr marL="0" indent="0">
              <a:buNone/>
            </a:pPr>
            <a:r>
              <a:rPr lang="en-US" sz="1100" b="1" dirty="0">
                <a:solidFill>
                  <a:srgbClr val="FFFFFF"/>
                </a:solidFill>
              </a:rPr>
              <a:t>🔭  What we'd build next</a:t>
            </a:r>
            <a:endParaRPr lang="en-US" sz="1100" dirty="0"/>
          </a:p>
        </p:txBody>
      </p:sp>
      <p:sp>
        <p:nvSpPr>
          <p:cNvPr id="20" name="Shape 18"/>
          <p:cNvSpPr/>
          <p:nvPr/>
        </p:nvSpPr>
        <p:spPr>
          <a:xfrm>
            <a:off x="4709160" y="3246120"/>
            <a:ext cx="4206240" cy="1691640"/>
          </a:xfrm>
          <a:prstGeom prst="rect">
            <a:avLst/>
          </a:prstGeom>
          <a:solidFill>
            <a:srgbClr val="EDE9FE"/>
          </a:solidFill>
          <a:ln/>
        </p:spPr>
        <p:txBody>
          <a:bodyPr lIns="91440" tIns="45720" rIns="91440" bIns="45720" anchor="t"/>
          <a:lstStyle/>
          <a:p>
            <a:r>
              <a:rPr lang="en-US" sz="1100" b="1">
                <a:solidFill>
                  <a:schemeClr val="tx2"/>
                </a:solidFill>
                <a:latin typeface="Calibri"/>
                <a:ea typeface="Calibri"/>
                <a:cs typeface="Calibri"/>
              </a:rPr>
              <a:t>If we had three more months, we would first implement the third optimization model, taking real world and human made inputs and optimizing the power routing based on such, then we would implement more advanced machine learning techniques rather than linear regression for the regression model, potentially replacing it with a random forest model or neural network. We would then implement real world non-functional testing, meaning that the model would be running in a simulation taking real live inputs and outputting real data that is not used.</a:t>
            </a:r>
            <a:endParaRPr lang="en-US" b="1">
              <a:solidFill>
                <a:schemeClr val="tx2"/>
              </a:solidFill>
              <a:latin typeface="Calibri"/>
              <a:ea typeface="Calibri"/>
              <a:cs typeface="Calibri"/>
            </a:endParaRPr>
          </a:p>
        </p:txBody>
      </p:sp>
      <p:sp>
        <p:nvSpPr>
          <p:cNvPr id="22" name="Text 20"/>
          <p:cNvSpPr/>
          <p:nvPr/>
        </p:nvSpPr>
        <p:spPr>
          <a:xfrm>
            <a:off x="0" y="4887468"/>
            <a:ext cx="9144000" cy="256032"/>
          </a:xfrm>
          <a:prstGeom prst="rect">
            <a:avLst/>
          </a:prstGeom>
          <a:noFill/>
          <a:ln/>
        </p:spPr>
        <p:txBody>
          <a:bodyPr wrap="square" lIns="91440" tIns="45720" rIns="91440" bIns="45720" rtlCol="0" anchor="ctr"/>
          <a:lstStyle/>
          <a:p>
            <a:pPr algn="ctr"/>
            <a:r>
              <a:rPr lang="en-US" sz="800" i="1">
                <a:solidFill>
                  <a:srgbClr val="64748B"/>
                </a:solidFill>
              </a:rPr>
              <a:t>Smart City AI Design Challenge  ·  James Mitchell ·  May 2025</a:t>
            </a:r>
            <a:endParaRPr lang="en-US" sz="800"/>
          </a:p>
        </p:txBody>
      </p:sp>
      <p:sp>
        <p:nvSpPr>
          <p:cNvPr id="23" name="Text 21"/>
          <p:cNvSpPr/>
          <p:nvPr/>
        </p:nvSpPr>
        <p:spPr>
          <a:xfrm>
            <a:off x="8595360" y="4869180"/>
            <a:ext cx="457200" cy="228600"/>
          </a:xfrm>
          <a:prstGeom prst="rect">
            <a:avLst/>
          </a:prstGeom>
          <a:noFill/>
          <a:ln/>
        </p:spPr>
        <p:txBody>
          <a:bodyPr wrap="square" lIns="91440" tIns="45720" rIns="91440" bIns="45720" rtlCol="0" anchor="ctr"/>
          <a:lstStyle/>
          <a:p>
            <a:pPr algn="r"/>
            <a:r>
              <a:rPr lang="en-US" sz="800">
                <a:solidFill>
                  <a:srgbClr val="64748B"/>
                </a:solidFill>
              </a:rPr>
              <a:t>8 / 9</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65A82"/>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B4D8"/>
          </a:solidFill>
          <a:ln/>
        </p:spPr>
        <p:txBody>
          <a:bodyPr/>
          <a:lstStyle/>
          <a:p>
            <a:endParaRPr lang="en-US"/>
          </a:p>
        </p:txBody>
      </p:sp>
      <p:sp>
        <p:nvSpPr>
          <p:cNvPr id="3" name="Text 1"/>
          <p:cNvSpPr/>
          <p:nvPr/>
        </p:nvSpPr>
        <p:spPr>
          <a:xfrm>
            <a:off x="365760" y="365760"/>
            <a:ext cx="8229600" cy="411480"/>
          </a:xfrm>
          <a:prstGeom prst="rect">
            <a:avLst/>
          </a:prstGeom>
          <a:noFill/>
          <a:ln/>
        </p:spPr>
        <p:txBody>
          <a:bodyPr wrap="square" lIns="91440" tIns="45720" rIns="91440" bIns="45720" rtlCol="0" anchor="ctr"/>
          <a:lstStyle/>
          <a:p>
            <a:r>
              <a:rPr lang="en-US" b="1">
                <a:solidFill>
                  <a:srgbClr val="00B4D8"/>
                </a:solidFill>
              </a:rPr>
              <a:t>Late People</a:t>
            </a:r>
            <a:endParaRPr lang="en-US" sz="1800" b="1" dirty="0">
              <a:solidFill>
                <a:srgbClr val="00B4D8"/>
              </a:solidFill>
              <a:ea typeface="Calibri"/>
              <a:cs typeface="Calibri"/>
            </a:endParaRPr>
          </a:p>
        </p:txBody>
      </p:sp>
      <p:sp>
        <p:nvSpPr>
          <p:cNvPr id="4" name="Text 2"/>
          <p:cNvSpPr/>
          <p:nvPr/>
        </p:nvSpPr>
        <p:spPr>
          <a:xfrm>
            <a:off x="365760" y="822960"/>
            <a:ext cx="8229600" cy="1097280"/>
          </a:xfrm>
          <a:prstGeom prst="rect">
            <a:avLst/>
          </a:prstGeom>
          <a:noFill/>
          <a:ln/>
        </p:spPr>
        <p:txBody>
          <a:bodyPr wrap="square" rtlCol="0" anchor="ctr"/>
          <a:lstStyle/>
          <a:p>
            <a:pPr marL="0" indent="0">
              <a:buNone/>
            </a:pPr>
            <a:r>
              <a:rPr lang="en-US" sz="5200" b="1" dirty="0">
                <a:solidFill>
                  <a:srgbClr val="FFFFFF"/>
                </a:solidFill>
              </a:rPr>
              <a:t>Thank You</a:t>
            </a:r>
            <a:endParaRPr lang="en-US" sz="5200" dirty="0"/>
          </a:p>
        </p:txBody>
      </p:sp>
      <p:sp>
        <p:nvSpPr>
          <p:cNvPr id="5" name="Text 3"/>
          <p:cNvSpPr/>
          <p:nvPr/>
        </p:nvSpPr>
        <p:spPr>
          <a:xfrm>
            <a:off x="365760" y="1920240"/>
            <a:ext cx="8229600" cy="457200"/>
          </a:xfrm>
          <a:prstGeom prst="rect">
            <a:avLst/>
          </a:prstGeom>
          <a:noFill/>
          <a:ln/>
        </p:spPr>
        <p:txBody>
          <a:bodyPr wrap="square" rtlCol="0" anchor="ctr"/>
          <a:lstStyle/>
          <a:p>
            <a:pPr marL="0" indent="0">
              <a:buNone/>
            </a:pPr>
            <a:r>
              <a:rPr lang="en-US" sz="2000" i="1" dirty="0">
                <a:solidFill>
                  <a:srgbClr val="B0D4E3"/>
                </a:solidFill>
              </a:rPr>
              <a:t>Smart City AI Design Challenge</a:t>
            </a:r>
            <a:endParaRPr lang="en-US" sz="2000" dirty="0"/>
          </a:p>
        </p:txBody>
      </p:sp>
      <p:sp>
        <p:nvSpPr>
          <p:cNvPr id="6" name="Shape 4"/>
          <p:cNvSpPr/>
          <p:nvPr/>
        </p:nvSpPr>
        <p:spPr>
          <a:xfrm>
            <a:off x="365760" y="2514600"/>
            <a:ext cx="2011680" cy="1371600"/>
          </a:xfrm>
          <a:prstGeom prst="rect">
            <a:avLst/>
          </a:prstGeom>
          <a:solidFill>
            <a:srgbClr val="1C7293"/>
          </a:solidFill>
          <a:ln/>
          <a:effectLst>
            <a:outerShdw blurRad="50800" dist="25400" dir="8100000" algn="bl" rotWithShape="0">
              <a:srgbClr val="000000">
                <a:alpha val="15000"/>
              </a:srgbClr>
            </a:outerShdw>
          </a:effectLst>
        </p:spPr>
        <p:txBody>
          <a:bodyPr/>
          <a:lstStyle/>
          <a:p>
            <a:endParaRPr lang="en-US"/>
          </a:p>
        </p:txBody>
      </p:sp>
      <p:sp>
        <p:nvSpPr>
          <p:cNvPr id="7" name="Text 5"/>
          <p:cNvSpPr/>
          <p:nvPr/>
        </p:nvSpPr>
        <p:spPr>
          <a:xfrm>
            <a:off x="365760" y="2606040"/>
            <a:ext cx="2011680" cy="594360"/>
          </a:xfrm>
          <a:prstGeom prst="rect">
            <a:avLst/>
          </a:prstGeom>
          <a:noFill/>
          <a:ln/>
        </p:spPr>
        <p:txBody>
          <a:bodyPr wrap="square" lIns="0" tIns="0" rIns="0" bIns="0" rtlCol="0" anchor="ctr"/>
          <a:lstStyle/>
          <a:p>
            <a:pPr marL="0" indent="0" algn="ctr">
              <a:buNone/>
            </a:pPr>
            <a:r>
              <a:rPr lang="en-US" sz="3200" b="1">
                <a:solidFill>
                  <a:srgbClr val="00B4D8"/>
                </a:solidFill>
                <a:ea typeface="Calibri"/>
                <a:cs typeface="Calibri"/>
              </a:rPr>
              <a:t>19</a:t>
            </a:r>
            <a:endParaRPr lang="en-US" sz="3200" b="1" dirty="0">
              <a:solidFill>
                <a:srgbClr val="00B4D8"/>
              </a:solidFill>
              <a:ea typeface="Calibri"/>
              <a:cs typeface="Calibri"/>
            </a:endParaRPr>
          </a:p>
        </p:txBody>
      </p:sp>
      <p:sp>
        <p:nvSpPr>
          <p:cNvPr id="8" name="Text 6"/>
          <p:cNvSpPr/>
          <p:nvPr/>
        </p:nvSpPr>
        <p:spPr>
          <a:xfrm>
            <a:off x="365760" y="3246120"/>
            <a:ext cx="2011680" cy="502920"/>
          </a:xfrm>
          <a:prstGeom prst="rect">
            <a:avLst/>
          </a:prstGeom>
          <a:noFill/>
          <a:ln/>
        </p:spPr>
        <p:txBody>
          <a:bodyPr wrap="square" lIns="0" tIns="0" rIns="0" bIns="0" rtlCol="0" anchor="ctr"/>
          <a:lstStyle/>
          <a:p>
            <a:pPr marL="0" indent="0" algn="ctr">
              <a:buNone/>
            </a:pPr>
            <a:r>
              <a:rPr lang="en-US" sz="1000" dirty="0">
                <a:solidFill>
                  <a:srgbClr val="B0D4E3"/>
                </a:solidFill>
              </a:rPr>
              <a:t>Building Types</a:t>
            </a:r>
            <a:endParaRPr lang="en-US" sz="1000" dirty="0"/>
          </a:p>
          <a:p>
            <a:pPr marL="0" indent="0" algn="ctr">
              <a:buNone/>
            </a:pPr>
            <a:r>
              <a:rPr lang="en-US" sz="1000" dirty="0">
                <a:solidFill>
                  <a:srgbClr val="B0D4E3"/>
                </a:solidFill>
              </a:rPr>
              <a:t>Analyzed</a:t>
            </a:r>
            <a:endParaRPr lang="en-US" sz="1000" dirty="0"/>
          </a:p>
        </p:txBody>
      </p:sp>
      <p:sp>
        <p:nvSpPr>
          <p:cNvPr id="9" name="Shape 7"/>
          <p:cNvSpPr/>
          <p:nvPr/>
        </p:nvSpPr>
        <p:spPr>
          <a:xfrm>
            <a:off x="2560320" y="2514600"/>
            <a:ext cx="2011680" cy="1371600"/>
          </a:xfrm>
          <a:prstGeom prst="rect">
            <a:avLst/>
          </a:prstGeom>
          <a:solidFill>
            <a:srgbClr val="1C7293"/>
          </a:solidFill>
          <a:ln/>
          <a:effectLst>
            <a:outerShdw blurRad="50800" dist="25400" dir="8100000" algn="bl" rotWithShape="0">
              <a:srgbClr val="000000">
                <a:alpha val="15000"/>
              </a:srgbClr>
            </a:outerShdw>
          </a:effectLst>
        </p:spPr>
        <p:txBody>
          <a:bodyPr/>
          <a:lstStyle/>
          <a:p>
            <a:endParaRPr lang="en-US"/>
          </a:p>
        </p:txBody>
      </p:sp>
      <p:sp>
        <p:nvSpPr>
          <p:cNvPr id="10" name="Text 8"/>
          <p:cNvSpPr/>
          <p:nvPr/>
        </p:nvSpPr>
        <p:spPr>
          <a:xfrm>
            <a:off x="2560320" y="2606040"/>
            <a:ext cx="2011680" cy="594360"/>
          </a:xfrm>
          <a:prstGeom prst="rect">
            <a:avLst/>
          </a:prstGeom>
          <a:noFill/>
          <a:ln/>
        </p:spPr>
        <p:txBody>
          <a:bodyPr wrap="square" lIns="0" tIns="0" rIns="0" bIns="0" rtlCol="0" anchor="ctr"/>
          <a:lstStyle/>
          <a:p>
            <a:pPr marL="0" indent="0" algn="ctr">
              <a:buNone/>
            </a:pPr>
            <a:r>
              <a:rPr lang="en-US" sz="3200" b="1">
                <a:solidFill>
                  <a:srgbClr val="00B4D8"/>
                </a:solidFill>
              </a:rPr>
              <a:t>3</a:t>
            </a:r>
            <a:endParaRPr lang="en-US" sz="3200"/>
          </a:p>
        </p:txBody>
      </p:sp>
      <p:sp>
        <p:nvSpPr>
          <p:cNvPr id="11" name="Text 9"/>
          <p:cNvSpPr/>
          <p:nvPr/>
        </p:nvSpPr>
        <p:spPr>
          <a:xfrm>
            <a:off x="2560320" y="3246120"/>
            <a:ext cx="2011680" cy="502920"/>
          </a:xfrm>
          <a:prstGeom prst="rect">
            <a:avLst/>
          </a:prstGeom>
          <a:noFill/>
          <a:ln/>
        </p:spPr>
        <p:txBody>
          <a:bodyPr wrap="square" lIns="0" tIns="0" rIns="0" bIns="0" rtlCol="0" anchor="ctr"/>
          <a:lstStyle/>
          <a:p>
            <a:pPr marL="0" indent="0" algn="ctr">
              <a:buNone/>
            </a:pPr>
            <a:r>
              <a:rPr lang="en-US" sz="1000" dirty="0">
                <a:solidFill>
                  <a:srgbClr val="B0D4E3"/>
                </a:solidFill>
              </a:rPr>
              <a:t>Data Streams</a:t>
            </a:r>
            <a:endParaRPr lang="en-US" sz="1000" dirty="0"/>
          </a:p>
          <a:p>
            <a:pPr marL="0" indent="0" algn="ctr">
              <a:buNone/>
            </a:pPr>
            <a:r>
              <a:rPr lang="en-US" sz="1000" dirty="0">
                <a:solidFill>
                  <a:srgbClr val="B0D4E3"/>
                </a:solidFill>
              </a:rPr>
              <a:t>Integrated</a:t>
            </a:r>
            <a:endParaRPr lang="en-US" sz="1000" dirty="0"/>
          </a:p>
        </p:txBody>
      </p:sp>
      <p:sp>
        <p:nvSpPr>
          <p:cNvPr id="12" name="Shape 10"/>
          <p:cNvSpPr/>
          <p:nvPr/>
        </p:nvSpPr>
        <p:spPr>
          <a:xfrm>
            <a:off x="4754880" y="2514600"/>
            <a:ext cx="2011680" cy="1371600"/>
          </a:xfrm>
          <a:prstGeom prst="rect">
            <a:avLst/>
          </a:prstGeom>
          <a:solidFill>
            <a:srgbClr val="1C7293"/>
          </a:solidFill>
          <a:ln/>
          <a:effectLst>
            <a:outerShdw blurRad="50800" dist="25400" dir="8100000" algn="bl" rotWithShape="0">
              <a:srgbClr val="000000">
                <a:alpha val="15000"/>
              </a:srgbClr>
            </a:outerShdw>
          </a:effectLst>
        </p:spPr>
        <p:txBody>
          <a:bodyPr/>
          <a:lstStyle/>
          <a:p>
            <a:endParaRPr lang="en-US"/>
          </a:p>
        </p:txBody>
      </p:sp>
      <p:sp>
        <p:nvSpPr>
          <p:cNvPr id="13" name="Text 11"/>
          <p:cNvSpPr/>
          <p:nvPr/>
        </p:nvSpPr>
        <p:spPr>
          <a:xfrm>
            <a:off x="4754880" y="2606040"/>
            <a:ext cx="2011680" cy="594360"/>
          </a:xfrm>
          <a:prstGeom prst="rect">
            <a:avLst/>
          </a:prstGeom>
          <a:noFill/>
          <a:ln/>
        </p:spPr>
        <p:txBody>
          <a:bodyPr wrap="square" lIns="0" tIns="0" rIns="0" bIns="0" rtlCol="0" anchor="ctr"/>
          <a:lstStyle/>
          <a:p>
            <a:pPr marL="0" indent="0" algn="ctr">
              <a:buNone/>
            </a:pPr>
            <a:r>
              <a:rPr lang="en-US" sz="3200" b="1">
                <a:solidFill>
                  <a:srgbClr val="00B4D8"/>
                </a:solidFill>
              </a:rPr>
              <a:t>2</a:t>
            </a:r>
            <a:endParaRPr lang="en-US" sz="3200" dirty="0"/>
          </a:p>
        </p:txBody>
      </p:sp>
      <p:sp>
        <p:nvSpPr>
          <p:cNvPr id="14" name="Text 12"/>
          <p:cNvSpPr/>
          <p:nvPr/>
        </p:nvSpPr>
        <p:spPr>
          <a:xfrm>
            <a:off x="4754880" y="3246120"/>
            <a:ext cx="2011680" cy="502920"/>
          </a:xfrm>
          <a:prstGeom prst="rect">
            <a:avLst/>
          </a:prstGeom>
          <a:noFill/>
          <a:ln/>
        </p:spPr>
        <p:txBody>
          <a:bodyPr wrap="square" lIns="0" tIns="0" rIns="0" bIns="0" rtlCol="0" anchor="ctr"/>
          <a:lstStyle/>
          <a:p>
            <a:pPr marL="0" indent="0" algn="ctr">
              <a:buNone/>
            </a:pPr>
            <a:r>
              <a:rPr lang="en-US" sz="1000" dirty="0">
                <a:solidFill>
                  <a:srgbClr val="B0D4E3"/>
                </a:solidFill>
              </a:rPr>
              <a:t>AI Models</a:t>
            </a:r>
            <a:endParaRPr lang="en-US" sz="1000" dirty="0"/>
          </a:p>
          <a:p>
            <a:pPr marL="0" indent="0" algn="ctr">
              <a:buNone/>
            </a:pPr>
            <a:r>
              <a:rPr lang="en-US" sz="1000" dirty="0">
                <a:solidFill>
                  <a:srgbClr val="B0D4E3"/>
                </a:solidFill>
              </a:rPr>
              <a:t>Designed</a:t>
            </a:r>
            <a:endParaRPr lang="en-US" sz="1000" dirty="0"/>
          </a:p>
        </p:txBody>
      </p:sp>
      <p:sp>
        <p:nvSpPr>
          <p:cNvPr id="15" name="Shape 13"/>
          <p:cNvSpPr/>
          <p:nvPr/>
        </p:nvSpPr>
        <p:spPr>
          <a:xfrm>
            <a:off x="6949440" y="2514600"/>
            <a:ext cx="2011680" cy="1371600"/>
          </a:xfrm>
          <a:prstGeom prst="rect">
            <a:avLst/>
          </a:prstGeom>
          <a:solidFill>
            <a:srgbClr val="1C7293"/>
          </a:solidFill>
          <a:ln/>
          <a:effectLst>
            <a:outerShdw blurRad="50800" dist="25400" dir="8100000" algn="bl" rotWithShape="0">
              <a:srgbClr val="000000">
                <a:alpha val="15000"/>
              </a:srgbClr>
            </a:outerShdw>
          </a:effectLst>
        </p:spPr>
        <p:txBody>
          <a:bodyPr/>
          <a:lstStyle/>
          <a:p>
            <a:endParaRPr lang="en-US"/>
          </a:p>
        </p:txBody>
      </p:sp>
      <p:sp>
        <p:nvSpPr>
          <p:cNvPr id="16" name="Text 14"/>
          <p:cNvSpPr/>
          <p:nvPr/>
        </p:nvSpPr>
        <p:spPr>
          <a:xfrm>
            <a:off x="6949440" y="2606040"/>
            <a:ext cx="2011680" cy="594360"/>
          </a:xfrm>
          <a:prstGeom prst="rect">
            <a:avLst/>
          </a:prstGeom>
          <a:noFill/>
          <a:ln/>
        </p:spPr>
        <p:txBody>
          <a:bodyPr wrap="square" lIns="0" tIns="0" rIns="0" bIns="0" rtlCol="0" anchor="ctr"/>
          <a:lstStyle/>
          <a:p>
            <a:pPr marL="0" indent="0" algn="ctr">
              <a:buNone/>
            </a:pPr>
            <a:r>
              <a:rPr lang="en-US" sz="3200" b="1">
                <a:solidFill>
                  <a:srgbClr val="00B4D8"/>
                </a:solidFill>
              </a:rPr>
              <a:t>100%</a:t>
            </a:r>
            <a:endParaRPr lang="en-US" sz="3200" dirty="0"/>
          </a:p>
        </p:txBody>
      </p:sp>
      <p:sp>
        <p:nvSpPr>
          <p:cNvPr id="17" name="Text 15"/>
          <p:cNvSpPr/>
          <p:nvPr/>
        </p:nvSpPr>
        <p:spPr>
          <a:xfrm>
            <a:off x="6949440" y="3246120"/>
            <a:ext cx="2011680" cy="502920"/>
          </a:xfrm>
          <a:prstGeom prst="rect">
            <a:avLst/>
          </a:prstGeom>
          <a:noFill/>
          <a:ln/>
        </p:spPr>
        <p:txBody>
          <a:bodyPr wrap="square" lIns="0" tIns="0" rIns="0" bIns="0" rtlCol="0" anchor="ctr"/>
          <a:lstStyle/>
          <a:p>
            <a:pPr marL="0" indent="0" algn="ctr">
              <a:buNone/>
            </a:pPr>
            <a:r>
              <a:rPr lang="en-US" sz="1000" dirty="0">
                <a:solidFill>
                  <a:srgbClr val="B0D4E3"/>
                </a:solidFill>
              </a:rPr>
              <a:t>Critical Tier</a:t>
            </a:r>
            <a:endParaRPr lang="en-US" sz="1000" dirty="0"/>
          </a:p>
          <a:p>
            <a:pPr marL="0" indent="0" algn="ctr">
              <a:buNone/>
            </a:pPr>
            <a:r>
              <a:rPr lang="en-US" sz="1000" dirty="0">
                <a:solidFill>
                  <a:srgbClr val="B0D4E3"/>
                </a:solidFill>
              </a:rPr>
              <a:t>Accuracy</a:t>
            </a:r>
            <a:endParaRPr lang="en-US" sz="1000" dirty="0"/>
          </a:p>
        </p:txBody>
      </p:sp>
      <p:sp>
        <p:nvSpPr>
          <p:cNvPr id="18" name="Text 16"/>
          <p:cNvSpPr/>
          <p:nvPr/>
        </p:nvSpPr>
        <p:spPr>
          <a:xfrm>
            <a:off x="365760" y="4160520"/>
            <a:ext cx="8229600" cy="365760"/>
          </a:xfrm>
          <a:prstGeom prst="rect">
            <a:avLst/>
          </a:prstGeom>
          <a:noFill/>
          <a:ln/>
        </p:spPr>
        <p:txBody>
          <a:bodyPr wrap="square" lIns="91440" tIns="45720" rIns="91440" bIns="45720" rtlCol="0" anchor="ctr"/>
          <a:lstStyle/>
          <a:p>
            <a:pPr marL="0" indent="0">
              <a:buNone/>
            </a:pPr>
            <a:r>
              <a:rPr lang="en-US" sz="1300" i="1">
                <a:solidFill>
                  <a:srgbClr val="B0D4E3"/>
                </a:solidFill>
              </a:rPr>
              <a:t>Questions?  · tagtribble@gmail.com</a:t>
            </a:r>
            <a:endParaRPr lang="en-US" sz="1300"/>
          </a:p>
        </p:txBody>
      </p:sp>
      <p:sp>
        <p:nvSpPr>
          <p:cNvPr id="19" name="Text 17"/>
          <p:cNvSpPr/>
          <p:nvPr/>
        </p:nvSpPr>
        <p:spPr>
          <a:xfrm>
            <a:off x="0" y="4887468"/>
            <a:ext cx="9144000" cy="256032"/>
          </a:xfrm>
          <a:prstGeom prst="rect">
            <a:avLst/>
          </a:prstGeom>
          <a:noFill/>
          <a:ln/>
        </p:spPr>
        <p:txBody>
          <a:bodyPr wrap="square" lIns="91440" tIns="45720" rIns="91440" bIns="45720" rtlCol="0" anchor="ctr"/>
          <a:lstStyle/>
          <a:p>
            <a:pPr algn="ctr"/>
            <a:r>
              <a:rPr lang="en-US" sz="800" i="1">
                <a:solidFill>
                  <a:srgbClr val="64748B"/>
                </a:solidFill>
              </a:rPr>
              <a:t>James Mitchell· 05/22/26· Boone High School</a:t>
            </a:r>
            <a:endParaRPr lang="en-US" sz="8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9F540F6C3ED6F47ABABC412FC458746" ma:contentTypeVersion="3" ma:contentTypeDescription="Create a new document." ma:contentTypeScope="" ma:versionID="918b7c26856c65e6a0c13fbc181b1357">
  <xsd:schema xmlns:xsd="http://www.w3.org/2001/XMLSchema" xmlns:xs="http://www.w3.org/2001/XMLSchema" xmlns:p="http://schemas.microsoft.com/office/2006/metadata/properties" xmlns:ns2="cc994535-ba4f-4b73-88e8-ed2fe918834f" targetNamespace="http://schemas.microsoft.com/office/2006/metadata/properties" ma:root="true" ma:fieldsID="ab45b7222121020502f59b1019062cbc" ns2:_="">
    <xsd:import namespace="cc994535-ba4f-4b73-88e8-ed2fe918834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994535-ba4f-4b73-88e8-ed2fe91883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1D81243-15F9-4499-BDEE-7C6234CB2053}">
  <ds:schemaRefs>
    <ds:schemaRef ds:uri="http://www.w3.org/XML/1998/namespace"/>
    <ds:schemaRef ds:uri="eb331bc9-1db8-4c74-9f85-ce09a0afd705"/>
    <ds:schemaRef ds:uri="69b0918f-83d5-4dd8-b374-9164537f9303"/>
    <ds:schemaRef ds:uri="http://purl.org/dc/elements/1.1/"/>
    <ds:schemaRef ds:uri="http://schemas.openxmlformats.org/package/2006/metadata/core-properties"/>
    <ds:schemaRef ds:uri="http://schemas.microsoft.com/office/2006/documentManagement/types"/>
    <ds:schemaRef ds:uri="http://schemas.microsoft.com/office/infopath/2007/PartnerControls"/>
    <ds:schemaRef ds:uri="http://schemas.microsoft.com/office/2006/metadata/properties"/>
    <ds:schemaRef ds:uri="http://purl.org/dc/dcmitype/"/>
    <ds:schemaRef ds:uri="http://purl.org/dc/terms/"/>
  </ds:schemaRefs>
</ds:datastoreItem>
</file>

<file path=customXml/itemProps2.xml><?xml version="1.0" encoding="utf-8"?>
<ds:datastoreItem xmlns:ds="http://schemas.openxmlformats.org/officeDocument/2006/customXml" ds:itemID="{13881966-95E6-4443-B685-231434E72BF8}">
  <ds:schemaRefs>
    <ds:schemaRef ds:uri="http://schemas.microsoft.com/sharepoint/v3/contenttype/forms"/>
  </ds:schemaRefs>
</ds:datastoreItem>
</file>

<file path=customXml/itemProps3.xml><?xml version="1.0" encoding="utf-8"?>
<ds:datastoreItem xmlns:ds="http://schemas.openxmlformats.org/officeDocument/2006/customXml" ds:itemID="{D3155974-68AD-4E40-A80E-153A9F3072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c994535-ba4f-4b73-88e8-ed2fe918834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57</TotalTime>
  <Words>889</Words>
  <Application>Microsoft Office PowerPoint</Application>
  <PresentationFormat>On-screen Show (16:9)</PresentationFormat>
  <Paragraphs>110</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City AI Design Challenge — Presentation Template</dc:title>
  <dc:subject>PptxGenJS Presentation</dc:subject>
  <dc:creator>PptxGenJS</dc:creator>
  <cp:lastModifiedBy>Dolling,Evan S</cp:lastModifiedBy>
  <cp:revision>850</cp:revision>
  <dcterms:created xsi:type="dcterms:W3CDTF">2026-05-08T13:33:30Z</dcterms:created>
  <dcterms:modified xsi:type="dcterms:W3CDTF">2026-05-22T01:00:21Z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0x010100C9F540F6C3ED6F47ABABC412FC458746</vt:lpwstr>
  </property>
  <property fmtid="{D5CDD505-2E9C-101B-9397-08002B2CF9AE}" pid="3" name="MediaServiceImageTags">
    <vt:lpwstr/>
  </property>
</Properties>
</file>